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8"/>
  </p:notesMasterIdLst>
  <p:handoutMasterIdLst>
    <p:handoutMasterId r:id="rId9"/>
  </p:handoutMasterIdLst>
  <p:sldIdLst>
    <p:sldId id="256" r:id="rId2"/>
    <p:sldId id="257" r:id="rId3"/>
    <p:sldId id="258" r:id="rId4"/>
    <p:sldId id="259" r:id="rId5"/>
    <p:sldId id="260" r:id="rId6"/>
    <p:sldId id="261" r:id="rId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67" d="100"/>
          <a:sy n="67" d="100"/>
        </p:scale>
        <p:origin x="32" y="6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notesMaster" Target="notesMasters/notesMaster1.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handoutMaster" Target="handoutMasters/handout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52AA39CC-0CB9-F749-4BA4-BFAC6E5967AD}"/>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latin typeface="Arial" panose="020B0604020202020204" pitchFamily="34" charset="0"/>
            </a:endParaRPr>
          </a:p>
        </p:txBody>
      </p:sp>
      <p:sp>
        <p:nvSpPr>
          <p:cNvPr id="3" name="Date Placeholder 2">
            <a:extLst>
              <a:ext uri="{FF2B5EF4-FFF2-40B4-BE49-F238E27FC236}">
                <a16:creationId xmlns:a16="http://schemas.microsoft.com/office/drawing/2014/main" id="{00F2D6F9-3C47-F1AB-884D-C6763EB9AA34}"/>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B51DF609-CE3E-4682-9EE1-9F021D287454}" type="datetimeFigureOut">
              <a:rPr lang="en-US" smtClean="0">
                <a:latin typeface="Arial" panose="020B0604020202020204" pitchFamily="34" charset="0"/>
              </a:rPr>
              <a:t>2/5/2026</a:t>
            </a:fld>
            <a:endParaRPr lang="en-US" dirty="0">
              <a:latin typeface="Arial" panose="020B0604020202020204" pitchFamily="34" charset="0"/>
            </a:endParaRPr>
          </a:p>
        </p:txBody>
      </p:sp>
      <p:sp>
        <p:nvSpPr>
          <p:cNvPr id="4" name="Footer Placeholder 3">
            <a:extLst>
              <a:ext uri="{FF2B5EF4-FFF2-40B4-BE49-F238E27FC236}">
                <a16:creationId xmlns:a16="http://schemas.microsoft.com/office/drawing/2014/main" id="{4BA04512-C6CE-FD3D-0595-3F4BE4C7343D}"/>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latin typeface="Arial" panose="020B0604020202020204" pitchFamily="34" charset="0"/>
            </a:endParaRPr>
          </a:p>
        </p:txBody>
      </p:sp>
      <p:sp>
        <p:nvSpPr>
          <p:cNvPr id="5" name="Slide Number Placeholder 4">
            <a:extLst>
              <a:ext uri="{FF2B5EF4-FFF2-40B4-BE49-F238E27FC236}">
                <a16:creationId xmlns:a16="http://schemas.microsoft.com/office/drawing/2014/main" id="{005604CD-E748-B835-81FF-336B2BF4B69E}"/>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C21F406F-744B-4AC1-BACC-D7809B1FA3F7}" type="slidenum">
              <a:rPr lang="en-US" smtClean="0">
                <a:latin typeface="Arial" panose="020B0604020202020204" pitchFamily="34" charset="0"/>
              </a:rPr>
              <a:t>‹#›</a:t>
            </a:fld>
            <a:endParaRPr lang="en-US" dirty="0">
              <a:latin typeface="Arial" panose="020B0604020202020204" pitchFamily="34" charset="0"/>
            </a:endParaRPr>
          </a:p>
        </p:txBody>
      </p:sp>
    </p:spTree>
    <p:extLst>
      <p:ext uri="{BB962C8B-B14F-4D97-AF65-F5344CB8AC3E}">
        <p14:creationId xmlns:p14="http://schemas.microsoft.com/office/powerpoint/2010/main" val="294722561"/>
      </p:ext>
    </p:extLst>
  </p:cSld>
  <p:clrMap bg1="lt1" tx1="dk1" bg2="lt2" tx2="dk2" accent1="accent1" accent2="accent2" accent3="accent3" accent4="accent4" accent5="accent5" accent6="accent6" hlink="hlink" folHlink="folHlink"/>
  <p:hf sldNum="0"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atin typeface="Arial" panose="020B0604020202020204" pitchFamily="34" charset="0"/>
              </a:defRPr>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atin typeface="Arial" panose="020B0604020202020204" pitchFamily="34" charset="0"/>
              </a:defRPr>
            </a:lvl1pPr>
          </a:lstStyle>
          <a:p>
            <a:fld id="{64FBBB13-4D00-4DA6-83C9-5B723E3F837E}" type="datetimeFigureOut">
              <a:rPr lang="en-US" smtClean="0"/>
              <a:pPr/>
              <a:t>2/5/2026</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atin typeface="Arial" panose="020B0604020202020204" pitchFamily="34" charset="0"/>
              </a:defRPr>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atin typeface="Arial" panose="020B0604020202020204" pitchFamily="34" charset="0"/>
              </a:defRPr>
            </a:lvl1pPr>
          </a:lstStyle>
          <a:p>
            <a:fld id="{86FE1DE2-E6A6-42FE-BD08-A4CD2EE09619}" type="slidenum">
              <a:rPr lang="en-US" smtClean="0"/>
              <a:pPr/>
              <a:t>‹#›</a:t>
            </a:fld>
            <a:endParaRPr lang="en-US" dirty="0"/>
          </a:p>
        </p:txBody>
      </p:sp>
    </p:spTree>
    <p:extLst>
      <p:ext uri="{BB962C8B-B14F-4D97-AF65-F5344CB8AC3E}">
        <p14:creationId xmlns:p14="http://schemas.microsoft.com/office/powerpoint/2010/main" val="360943320"/>
      </p:ext>
    </p:extLst>
  </p:cSld>
  <p:clrMap bg1="lt1" tx1="dk1" bg2="lt2" tx2="dk2" accent1="accent1" accent2="accent2" accent3="accent3" accent4="accent4" accent5="accent5" accent6="accent6" hlink="hlink" folHlink="folHlink"/>
  <p:hf sldNum="0" hdr="0" ftr="0" dt="0"/>
  <p:notesStyle>
    <a:lvl1pPr marL="0" algn="l" defTabSz="914400" rtl="0" eaLnBrk="1" latinLnBrk="0" hangingPunct="1">
      <a:defRPr sz="1200" kern="1200">
        <a:solidFill>
          <a:schemeClr val="tx1"/>
        </a:solidFill>
        <a:latin typeface="Arial" panose="020B0604020202020204" pitchFamily="34" charset="0"/>
        <a:ea typeface="+mn-ea"/>
        <a:cs typeface="+mn-cs"/>
      </a:defRPr>
    </a:lvl1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3F19FA-E1E5-DD18-3870-39D41D2A8809}"/>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965377C3-3DDA-D775-288F-7664038552B9}"/>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64CD1E38-387D-B862-D260-FF610F275719}"/>
              </a:ext>
            </a:extLst>
          </p:cNvPr>
          <p:cNvSpPr>
            <a:spLocks noGrp="1"/>
          </p:cNvSpPr>
          <p:nvPr>
            <p:ph type="dt" sz="half" idx="10"/>
          </p:nvPr>
        </p:nvSpPr>
        <p:spPr/>
        <p:txBody>
          <a:bodyPr/>
          <a:lstStyle/>
          <a:p>
            <a:fld id="{2CE4DA70-0880-4CCB-92F1-20A901422F90}" type="datetime1">
              <a:rPr lang="en-US" smtClean="0"/>
              <a:t>2/5/2026</a:t>
            </a:fld>
            <a:endParaRPr lang="en-US"/>
          </a:p>
        </p:txBody>
      </p:sp>
      <p:sp>
        <p:nvSpPr>
          <p:cNvPr id="5" name="Footer Placeholder 4">
            <a:extLst>
              <a:ext uri="{FF2B5EF4-FFF2-40B4-BE49-F238E27FC236}">
                <a16:creationId xmlns:a16="http://schemas.microsoft.com/office/drawing/2014/main" id="{9473DE52-3ACA-5989-1E1D-BCA4E2E188E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CA0A083-74E5-A11A-E33E-8211CB7DF658}"/>
              </a:ext>
            </a:extLst>
          </p:cNvPr>
          <p:cNvSpPr>
            <a:spLocks noGrp="1"/>
          </p:cNvSpPr>
          <p:nvPr>
            <p:ph type="sldNum" sz="quarter" idx="12"/>
          </p:nvPr>
        </p:nvSpPr>
        <p:spPr/>
        <p:txBody>
          <a:bodyPr/>
          <a:lstStyle/>
          <a:p>
            <a:fld id="{C2BC48A5-4F43-4573-99E8-824F842D28E4}" type="slidenum">
              <a:rPr lang="en-US" smtClean="0"/>
              <a:t>‹#›</a:t>
            </a:fld>
            <a:endParaRPr lang="en-US"/>
          </a:p>
        </p:txBody>
      </p:sp>
    </p:spTree>
    <p:extLst>
      <p:ext uri="{BB962C8B-B14F-4D97-AF65-F5344CB8AC3E}">
        <p14:creationId xmlns:p14="http://schemas.microsoft.com/office/powerpoint/2010/main" val="362251757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480ACC-3ED0-F3D3-3EC9-49F7BBC038F9}"/>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3871C019-0765-9114-DFB1-5DC3F1360A80}"/>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529CA0E-251F-47D0-EFFC-6B403B57A85E}"/>
              </a:ext>
            </a:extLst>
          </p:cNvPr>
          <p:cNvSpPr>
            <a:spLocks noGrp="1"/>
          </p:cNvSpPr>
          <p:nvPr>
            <p:ph type="dt" sz="half" idx="10"/>
          </p:nvPr>
        </p:nvSpPr>
        <p:spPr/>
        <p:txBody>
          <a:bodyPr/>
          <a:lstStyle/>
          <a:p>
            <a:fld id="{3D44A39B-4DDD-439F-87E7-510E16CF2101}" type="datetime1">
              <a:rPr lang="en-US" smtClean="0"/>
              <a:t>2/5/2026</a:t>
            </a:fld>
            <a:endParaRPr lang="en-US"/>
          </a:p>
        </p:txBody>
      </p:sp>
      <p:sp>
        <p:nvSpPr>
          <p:cNvPr id="5" name="Footer Placeholder 4">
            <a:extLst>
              <a:ext uri="{FF2B5EF4-FFF2-40B4-BE49-F238E27FC236}">
                <a16:creationId xmlns:a16="http://schemas.microsoft.com/office/drawing/2014/main" id="{9DBA8775-07EB-B3B3-F725-D7457C2564D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219C494-B0FA-FAA6-D2ED-F69CC146C9DC}"/>
              </a:ext>
            </a:extLst>
          </p:cNvPr>
          <p:cNvSpPr>
            <a:spLocks noGrp="1"/>
          </p:cNvSpPr>
          <p:nvPr>
            <p:ph type="sldNum" sz="quarter" idx="12"/>
          </p:nvPr>
        </p:nvSpPr>
        <p:spPr/>
        <p:txBody>
          <a:bodyPr/>
          <a:lstStyle/>
          <a:p>
            <a:fld id="{C2BC48A5-4F43-4573-99E8-824F842D28E4}" type="slidenum">
              <a:rPr lang="en-US" smtClean="0"/>
              <a:t>‹#›</a:t>
            </a:fld>
            <a:endParaRPr lang="en-US"/>
          </a:p>
        </p:txBody>
      </p:sp>
    </p:spTree>
    <p:extLst>
      <p:ext uri="{BB962C8B-B14F-4D97-AF65-F5344CB8AC3E}">
        <p14:creationId xmlns:p14="http://schemas.microsoft.com/office/powerpoint/2010/main" val="99172801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861B78-CD31-F8C5-42E4-3F6F62776C98}"/>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A51F5763-10CC-F552-21DA-858D0EEDC5A6}"/>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80E601A9-CBAA-0B59-3D10-4CBD169E9ED8}"/>
              </a:ext>
            </a:extLst>
          </p:cNvPr>
          <p:cNvSpPr>
            <a:spLocks noGrp="1"/>
          </p:cNvSpPr>
          <p:nvPr>
            <p:ph type="dt" sz="half" idx="10"/>
          </p:nvPr>
        </p:nvSpPr>
        <p:spPr/>
        <p:txBody>
          <a:bodyPr/>
          <a:lstStyle/>
          <a:p>
            <a:fld id="{8D1F18C2-2461-42AE-9FE9-D49F3A138B3F}" type="datetime1">
              <a:rPr lang="en-US" smtClean="0"/>
              <a:t>2/5/2026</a:t>
            </a:fld>
            <a:endParaRPr lang="en-US"/>
          </a:p>
        </p:txBody>
      </p:sp>
      <p:sp>
        <p:nvSpPr>
          <p:cNvPr id="5" name="Footer Placeholder 4">
            <a:extLst>
              <a:ext uri="{FF2B5EF4-FFF2-40B4-BE49-F238E27FC236}">
                <a16:creationId xmlns:a16="http://schemas.microsoft.com/office/drawing/2014/main" id="{B9434DC2-88CF-1DB0-5B5A-0240F9593F2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F6FB30A-0018-BCA2-DA60-48E4B2D5E445}"/>
              </a:ext>
            </a:extLst>
          </p:cNvPr>
          <p:cNvSpPr>
            <a:spLocks noGrp="1"/>
          </p:cNvSpPr>
          <p:nvPr>
            <p:ph type="sldNum" sz="quarter" idx="12"/>
          </p:nvPr>
        </p:nvSpPr>
        <p:spPr/>
        <p:txBody>
          <a:bodyPr/>
          <a:lstStyle/>
          <a:p>
            <a:fld id="{C2BC48A5-4F43-4573-99E8-824F842D28E4}" type="slidenum">
              <a:rPr lang="en-US" smtClean="0"/>
              <a:t>‹#›</a:t>
            </a:fld>
            <a:endParaRPr lang="en-US"/>
          </a:p>
        </p:txBody>
      </p:sp>
    </p:spTree>
    <p:extLst>
      <p:ext uri="{BB962C8B-B14F-4D97-AF65-F5344CB8AC3E}">
        <p14:creationId xmlns:p14="http://schemas.microsoft.com/office/powerpoint/2010/main" val="3743973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8FBD58-599D-C37C-E82F-2EB607323467}"/>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472D362B-19C6-4767-5791-293EE8B7F802}"/>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33FA1D22-1D53-A589-B473-07255580B1D5}"/>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A4924B2C-6561-189E-7893-42666F4BEEA1}"/>
              </a:ext>
            </a:extLst>
          </p:cNvPr>
          <p:cNvSpPr>
            <a:spLocks noGrp="1"/>
          </p:cNvSpPr>
          <p:nvPr>
            <p:ph type="dt" sz="half" idx="10"/>
          </p:nvPr>
        </p:nvSpPr>
        <p:spPr/>
        <p:txBody>
          <a:bodyPr/>
          <a:lstStyle/>
          <a:p>
            <a:fld id="{7C62C83D-AEC1-41A9-8579-2610010F5FF0}" type="datetime1">
              <a:rPr lang="en-US" smtClean="0"/>
              <a:t>2/5/2026</a:t>
            </a:fld>
            <a:endParaRPr lang="en-US"/>
          </a:p>
        </p:txBody>
      </p:sp>
      <p:sp>
        <p:nvSpPr>
          <p:cNvPr id="6" name="Footer Placeholder 5">
            <a:extLst>
              <a:ext uri="{FF2B5EF4-FFF2-40B4-BE49-F238E27FC236}">
                <a16:creationId xmlns:a16="http://schemas.microsoft.com/office/drawing/2014/main" id="{64EA0980-22E1-8951-317F-DD6296FDE3E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1D1C735-5D32-E49F-6085-D4D2D5A7B439}"/>
              </a:ext>
            </a:extLst>
          </p:cNvPr>
          <p:cNvSpPr>
            <a:spLocks noGrp="1"/>
          </p:cNvSpPr>
          <p:nvPr>
            <p:ph type="sldNum" sz="quarter" idx="12"/>
          </p:nvPr>
        </p:nvSpPr>
        <p:spPr/>
        <p:txBody>
          <a:bodyPr/>
          <a:lstStyle/>
          <a:p>
            <a:fld id="{C2BC48A5-4F43-4573-99E8-824F842D28E4}" type="slidenum">
              <a:rPr lang="en-US" smtClean="0"/>
              <a:t>‹#›</a:t>
            </a:fld>
            <a:endParaRPr lang="en-US"/>
          </a:p>
        </p:txBody>
      </p:sp>
    </p:spTree>
    <p:extLst>
      <p:ext uri="{BB962C8B-B14F-4D97-AF65-F5344CB8AC3E}">
        <p14:creationId xmlns:p14="http://schemas.microsoft.com/office/powerpoint/2010/main" val="41658922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DDE26C-F5D1-FBC1-E097-D633669C41ED}"/>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3E281835-82E7-76A9-3226-1FC7FBABC3B7}"/>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FF739AB3-1F13-13C5-AE19-0AE6DA2B7C65}"/>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5125CD4D-826E-F852-F6BD-3CB521A7E964}"/>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218FD4B3-8847-CB71-17F5-2179F609EB03}"/>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73006613-AEBF-09A9-5AAA-A1CB5A23435D}"/>
              </a:ext>
            </a:extLst>
          </p:cNvPr>
          <p:cNvSpPr>
            <a:spLocks noGrp="1"/>
          </p:cNvSpPr>
          <p:nvPr>
            <p:ph type="dt" sz="half" idx="10"/>
          </p:nvPr>
        </p:nvSpPr>
        <p:spPr/>
        <p:txBody>
          <a:bodyPr/>
          <a:lstStyle/>
          <a:p>
            <a:fld id="{36411319-9B8E-4C11-9965-623BD23A3604}" type="datetime1">
              <a:rPr lang="en-US" smtClean="0"/>
              <a:t>2/5/2026</a:t>
            </a:fld>
            <a:endParaRPr lang="en-US"/>
          </a:p>
        </p:txBody>
      </p:sp>
      <p:sp>
        <p:nvSpPr>
          <p:cNvPr id="8" name="Footer Placeholder 7">
            <a:extLst>
              <a:ext uri="{FF2B5EF4-FFF2-40B4-BE49-F238E27FC236}">
                <a16:creationId xmlns:a16="http://schemas.microsoft.com/office/drawing/2014/main" id="{F4083BCE-88F4-9ECF-B211-707F9630F838}"/>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69A19AA1-9891-6453-0359-5DBD2E421897}"/>
              </a:ext>
            </a:extLst>
          </p:cNvPr>
          <p:cNvSpPr>
            <a:spLocks noGrp="1"/>
          </p:cNvSpPr>
          <p:nvPr>
            <p:ph type="sldNum" sz="quarter" idx="12"/>
          </p:nvPr>
        </p:nvSpPr>
        <p:spPr/>
        <p:txBody>
          <a:bodyPr/>
          <a:lstStyle/>
          <a:p>
            <a:fld id="{C2BC48A5-4F43-4573-99E8-824F842D28E4}" type="slidenum">
              <a:rPr lang="en-US" smtClean="0"/>
              <a:t>‹#›</a:t>
            </a:fld>
            <a:endParaRPr lang="en-US"/>
          </a:p>
        </p:txBody>
      </p:sp>
    </p:spTree>
    <p:extLst>
      <p:ext uri="{BB962C8B-B14F-4D97-AF65-F5344CB8AC3E}">
        <p14:creationId xmlns:p14="http://schemas.microsoft.com/office/powerpoint/2010/main" val="323156665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107A4D-E003-F4B1-B6A2-A44B6819177C}"/>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202FE6FF-C41E-556A-62D0-DADF0E815817}"/>
              </a:ext>
            </a:extLst>
          </p:cNvPr>
          <p:cNvSpPr>
            <a:spLocks noGrp="1"/>
          </p:cNvSpPr>
          <p:nvPr>
            <p:ph type="dt" sz="half" idx="10"/>
          </p:nvPr>
        </p:nvSpPr>
        <p:spPr/>
        <p:txBody>
          <a:bodyPr/>
          <a:lstStyle/>
          <a:p>
            <a:fld id="{779363BC-3909-48B8-81EA-2B0C895D15AE}" type="datetime1">
              <a:rPr lang="en-US" smtClean="0"/>
              <a:t>2/5/2026</a:t>
            </a:fld>
            <a:endParaRPr lang="en-US"/>
          </a:p>
        </p:txBody>
      </p:sp>
      <p:sp>
        <p:nvSpPr>
          <p:cNvPr id="4" name="Footer Placeholder 3">
            <a:extLst>
              <a:ext uri="{FF2B5EF4-FFF2-40B4-BE49-F238E27FC236}">
                <a16:creationId xmlns:a16="http://schemas.microsoft.com/office/drawing/2014/main" id="{4C0BB718-1D9A-EBA3-3402-34A2DD2D5800}"/>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A58EEA90-708F-CD69-DFE4-8F85AB59A92E}"/>
              </a:ext>
            </a:extLst>
          </p:cNvPr>
          <p:cNvSpPr>
            <a:spLocks noGrp="1"/>
          </p:cNvSpPr>
          <p:nvPr>
            <p:ph type="sldNum" sz="quarter" idx="12"/>
          </p:nvPr>
        </p:nvSpPr>
        <p:spPr/>
        <p:txBody>
          <a:bodyPr/>
          <a:lstStyle/>
          <a:p>
            <a:fld id="{C2BC48A5-4F43-4573-99E8-824F842D28E4}" type="slidenum">
              <a:rPr lang="en-US" smtClean="0"/>
              <a:t>‹#›</a:t>
            </a:fld>
            <a:endParaRPr lang="en-US"/>
          </a:p>
        </p:txBody>
      </p:sp>
    </p:spTree>
    <p:extLst>
      <p:ext uri="{BB962C8B-B14F-4D97-AF65-F5344CB8AC3E}">
        <p14:creationId xmlns:p14="http://schemas.microsoft.com/office/powerpoint/2010/main" val="190356323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67B1BC99-7AB9-3818-E256-79AE528F120F}"/>
              </a:ext>
            </a:extLst>
          </p:cNvPr>
          <p:cNvSpPr>
            <a:spLocks noGrp="1"/>
          </p:cNvSpPr>
          <p:nvPr>
            <p:ph type="dt" sz="half" idx="10"/>
          </p:nvPr>
        </p:nvSpPr>
        <p:spPr/>
        <p:txBody>
          <a:bodyPr/>
          <a:lstStyle/>
          <a:p>
            <a:fld id="{3737EC33-A87B-431D-A220-91C5003A7120}" type="datetime1">
              <a:rPr lang="en-US" smtClean="0"/>
              <a:t>2/5/2026</a:t>
            </a:fld>
            <a:endParaRPr lang="en-US"/>
          </a:p>
        </p:txBody>
      </p:sp>
      <p:sp>
        <p:nvSpPr>
          <p:cNvPr id="3" name="Footer Placeholder 2">
            <a:extLst>
              <a:ext uri="{FF2B5EF4-FFF2-40B4-BE49-F238E27FC236}">
                <a16:creationId xmlns:a16="http://schemas.microsoft.com/office/drawing/2014/main" id="{5CFB26AD-536A-3CEB-3C47-DC7BC6A0D4A6}"/>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573BEEBA-D066-FDE4-531F-8370360B7BE1}"/>
              </a:ext>
            </a:extLst>
          </p:cNvPr>
          <p:cNvSpPr>
            <a:spLocks noGrp="1"/>
          </p:cNvSpPr>
          <p:nvPr>
            <p:ph type="sldNum" sz="quarter" idx="12"/>
          </p:nvPr>
        </p:nvSpPr>
        <p:spPr/>
        <p:txBody>
          <a:bodyPr/>
          <a:lstStyle/>
          <a:p>
            <a:fld id="{C2BC48A5-4F43-4573-99E8-824F842D28E4}" type="slidenum">
              <a:rPr lang="en-US" smtClean="0"/>
              <a:t>‹#›</a:t>
            </a:fld>
            <a:endParaRPr lang="en-US"/>
          </a:p>
        </p:txBody>
      </p:sp>
    </p:spTree>
    <p:extLst>
      <p:ext uri="{BB962C8B-B14F-4D97-AF65-F5344CB8AC3E}">
        <p14:creationId xmlns:p14="http://schemas.microsoft.com/office/powerpoint/2010/main" val="400364766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2A294A-EB37-99BA-F2C3-A16FFFA8DB1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04E8000C-5C34-906E-A903-9E8C7B5842DE}"/>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F0F59555-B14A-5C13-B37C-F914FB1E8B9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7D3FD09-4D5E-31C8-9A33-3E266B6141F5}"/>
              </a:ext>
            </a:extLst>
          </p:cNvPr>
          <p:cNvSpPr>
            <a:spLocks noGrp="1"/>
          </p:cNvSpPr>
          <p:nvPr>
            <p:ph type="dt" sz="half" idx="10"/>
          </p:nvPr>
        </p:nvSpPr>
        <p:spPr/>
        <p:txBody>
          <a:bodyPr/>
          <a:lstStyle/>
          <a:p>
            <a:fld id="{6F853B23-D4C8-4C29-96DB-53DDCF8CA105}" type="datetime1">
              <a:rPr lang="en-US" smtClean="0"/>
              <a:t>2/5/2026</a:t>
            </a:fld>
            <a:endParaRPr lang="en-US"/>
          </a:p>
        </p:txBody>
      </p:sp>
      <p:sp>
        <p:nvSpPr>
          <p:cNvPr id="6" name="Footer Placeholder 5">
            <a:extLst>
              <a:ext uri="{FF2B5EF4-FFF2-40B4-BE49-F238E27FC236}">
                <a16:creationId xmlns:a16="http://schemas.microsoft.com/office/drawing/2014/main" id="{ADF206FE-1426-15A9-6647-5837E508133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BB466DA-4CBF-6866-EB5A-A5EEA691E0DB}"/>
              </a:ext>
            </a:extLst>
          </p:cNvPr>
          <p:cNvSpPr>
            <a:spLocks noGrp="1"/>
          </p:cNvSpPr>
          <p:nvPr>
            <p:ph type="sldNum" sz="quarter" idx="12"/>
          </p:nvPr>
        </p:nvSpPr>
        <p:spPr/>
        <p:txBody>
          <a:bodyPr/>
          <a:lstStyle/>
          <a:p>
            <a:fld id="{C2BC48A5-4F43-4573-99E8-824F842D28E4}" type="slidenum">
              <a:rPr lang="en-US" smtClean="0"/>
              <a:t>‹#›</a:t>
            </a:fld>
            <a:endParaRPr lang="en-US"/>
          </a:p>
        </p:txBody>
      </p:sp>
    </p:spTree>
    <p:extLst>
      <p:ext uri="{BB962C8B-B14F-4D97-AF65-F5344CB8AC3E}">
        <p14:creationId xmlns:p14="http://schemas.microsoft.com/office/powerpoint/2010/main" val="118488828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E3539F-9781-AA7C-E8A6-0776D431B5E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92EC95B7-BF9D-0EED-E79D-444D931256BD}"/>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59EBA706-5A34-557B-9DE5-975E4D2B868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D0B40FE-FEDF-58FA-F8DB-3A325D797514}"/>
              </a:ext>
            </a:extLst>
          </p:cNvPr>
          <p:cNvSpPr>
            <a:spLocks noGrp="1"/>
          </p:cNvSpPr>
          <p:nvPr>
            <p:ph type="dt" sz="half" idx="10"/>
          </p:nvPr>
        </p:nvSpPr>
        <p:spPr/>
        <p:txBody>
          <a:bodyPr/>
          <a:lstStyle/>
          <a:p>
            <a:fld id="{F2503C0B-1E83-4EBD-BDD5-C1193305ACEF}" type="datetime1">
              <a:rPr lang="en-US" smtClean="0"/>
              <a:t>2/5/2026</a:t>
            </a:fld>
            <a:endParaRPr lang="en-US"/>
          </a:p>
        </p:txBody>
      </p:sp>
      <p:sp>
        <p:nvSpPr>
          <p:cNvPr id="6" name="Footer Placeholder 5">
            <a:extLst>
              <a:ext uri="{FF2B5EF4-FFF2-40B4-BE49-F238E27FC236}">
                <a16:creationId xmlns:a16="http://schemas.microsoft.com/office/drawing/2014/main" id="{6E97320E-9DDA-39FA-3B47-9B4D6A05B6D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48A401F-8188-2803-2A9F-A7311F4464F6}"/>
              </a:ext>
            </a:extLst>
          </p:cNvPr>
          <p:cNvSpPr>
            <a:spLocks noGrp="1"/>
          </p:cNvSpPr>
          <p:nvPr>
            <p:ph type="sldNum" sz="quarter" idx="12"/>
          </p:nvPr>
        </p:nvSpPr>
        <p:spPr/>
        <p:txBody>
          <a:bodyPr/>
          <a:lstStyle/>
          <a:p>
            <a:fld id="{C2BC48A5-4F43-4573-99E8-824F842D28E4}" type="slidenum">
              <a:rPr lang="en-US" smtClean="0"/>
              <a:t>‹#›</a:t>
            </a:fld>
            <a:endParaRPr lang="en-US"/>
          </a:p>
        </p:txBody>
      </p:sp>
    </p:spTree>
    <p:extLst>
      <p:ext uri="{BB962C8B-B14F-4D97-AF65-F5344CB8AC3E}">
        <p14:creationId xmlns:p14="http://schemas.microsoft.com/office/powerpoint/2010/main" val="237419529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B38443-6963-303A-D728-A0B816ABD1A1}"/>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CEE41DDD-DA80-ACE0-96AE-89595CD62828}"/>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7FF7ACA-198C-A3CA-3F03-3740C7B726F6}"/>
              </a:ext>
            </a:extLst>
          </p:cNvPr>
          <p:cNvSpPr>
            <a:spLocks noGrp="1"/>
          </p:cNvSpPr>
          <p:nvPr>
            <p:ph type="dt" sz="half" idx="10"/>
          </p:nvPr>
        </p:nvSpPr>
        <p:spPr/>
        <p:txBody>
          <a:bodyPr/>
          <a:lstStyle/>
          <a:p>
            <a:fld id="{12A3B8C4-FFEF-48F4-BF08-FDB7F815BE4C}" type="datetime1">
              <a:rPr lang="en-US" smtClean="0"/>
              <a:t>2/5/2026</a:t>
            </a:fld>
            <a:endParaRPr lang="en-US"/>
          </a:p>
        </p:txBody>
      </p:sp>
      <p:sp>
        <p:nvSpPr>
          <p:cNvPr id="5" name="Footer Placeholder 4">
            <a:extLst>
              <a:ext uri="{FF2B5EF4-FFF2-40B4-BE49-F238E27FC236}">
                <a16:creationId xmlns:a16="http://schemas.microsoft.com/office/drawing/2014/main" id="{1BF29EA5-4F46-E517-A298-6676F52BEE1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01C459C-9E94-EDA5-E478-AB3883D0141B}"/>
              </a:ext>
            </a:extLst>
          </p:cNvPr>
          <p:cNvSpPr>
            <a:spLocks noGrp="1"/>
          </p:cNvSpPr>
          <p:nvPr>
            <p:ph type="sldNum" sz="quarter" idx="12"/>
          </p:nvPr>
        </p:nvSpPr>
        <p:spPr/>
        <p:txBody>
          <a:bodyPr/>
          <a:lstStyle/>
          <a:p>
            <a:fld id="{C2BC48A5-4F43-4573-99E8-824F842D28E4}" type="slidenum">
              <a:rPr lang="en-US" smtClean="0"/>
              <a:t>‹#›</a:t>
            </a:fld>
            <a:endParaRPr lang="en-US"/>
          </a:p>
        </p:txBody>
      </p:sp>
    </p:spTree>
    <p:extLst>
      <p:ext uri="{BB962C8B-B14F-4D97-AF65-F5344CB8AC3E}">
        <p14:creationId xmlns:p14="http://schemas.microsoft.com/office/powerpoint/2010/main" val="131187309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2C7F6B83-C273-66F8-0376-358ED02A5630}"/>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D340E75E-37B3-97E7-25F0-3A60FF1D0940}"/>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4237535-CEF9-A197-4483-A01C8029B9F1}"/>
              </a:ext>
            </a:extLst>
          </p:cNvPr>
          <p:cNvSpPr>
            <a:spLocks noGrp="1"/>
          </p:cNvSpPr>
          <p:nvPr>
            <p:ph type="dt" sz="half" idx="10"/>
          </p:nvPr>
        </p:nvSpPr>
        <p:spPr/>
        <p:txBody>
          <a:bodyPr/>
          <a:lstStyle/>
          <a:p>
            <a:fld id="{94AF6532-A8BD-4E50-8D01-FC2CF4799BD8}" type="datetime1">
              <a:rPr lang="en-US" smtClean="0"/>
              <a:t>2/5/2026</a:t>
            </a:fld>
            <a:endParaRPr lang="en-US"/>
          </a:p>
        </p:txBody>
      </p:sp>
      <p:sp>
        <p:nvSpPr>
          <p:cNvPr id="5" name="Footer Placeholder 4">
            <a:extLst>
              <a:ext uri="{FF2B5EF4-FFF2-40B4-BE49-F238E27FC236}">
                <a16:creationId xmlns:a16="http://schemas.microsoft.com/office/drawing/2014/main" id="{F439AA31-4D4D-B857-987B-4E41B40ACBE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559B002-81DA-EE82-AAC4-E9081DD7C23C}"/>
              </a:ext>
            </a:extLst>
          </p:cNvPr>
          <p:cNvSpPr>
            <a:spLocks noGrp="1"/>
          </p:cNvSpPr>
          <p:nvPr>
            <p:ph type="sldNum" sz="quarter" idx="12"/>
          </p:nvPr>
        </p:nvSpPr>
        <p:spPr/>
        <p:txBody>
          <a:bodyPr/>
          <a:lstStyle/>
          <a:p>
            <a:fld id="{C2BC48A5-4F43-4573-99E8-824F842D28E4}" type="slidenum">
              <a:rPr lang="en-US" smtClean="0"/>
              <a:t>‹#›</a:t>
            </a:fld>
            <a:endParaRPr lang="en-US"/>
          </a:p>
        </p:txBody>
      </p:sp>
    </p:spTree>
    <p:extLst>
      <p:ext uri="{BB962C8B-B14F-4D97-AF65-F5344CB8AC3E}">
        <p14:creationId xmlns:p14="http://schemas.microsoft.com/office/powerpoint/2010/main" val="220617574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DCF73C0-E7CC-1E61-5DA6-DD72B6665FF4}"/>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a:extLst>
              <a:ext uri="{FF2B5EF4-FFF2-40B4-BE49-F238E27FC236}">
                <a16:creationId xmlns:a16="http://schemas.microsoft.com/office/drawing/2014/main" id="{E0CA1771-C472-3410-1362-1D9CFF9880EF}"/>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E5004EAD-DAF7-72C2-538C-0079D1FB7726}"/>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latin typeface="Arial" panose="020B0604020202020204" pitchFamily="34" charset="0"/>
              </a:defRPr>
            </a:lvl1pPr>
          </a:lstStyle>
          <a:p>
            <a:fld id="{506422EA-DD87-4AF4-B59C-4EDB2F92CE4E}" type="datetime1">
              <a:rPr lang="en-US" smtClean="0"/>
              <a:pPr/>
              <a:t>2/5/2026</a:t>
            </a:fld>
            <a:endParaRPr lang="en-US" dirty="0"/>
          </a:p>
        </p:txBody>
      </p:sp>
      <p:sp>
        <p:nvSpPr>
          <p:cNvPr id="5" name="Footer Placeholder 4">
            <a:extLst>
              <a:ext uri="{FF2B5EF4-FFF2-40B4-BE49-F238E27FC236}">
                <a16:creationId xmlns:a16="http://schemas.microsoft.com/office/drawing/2014/main" id="{DABED628-6D2A-9A6C-0C2C-13884D8483F0}"/>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latin typeface="Arial" panose="020B0604020202020204" pitchFamily="34" charset="0"/>
              </a:defRPr>
            </a:lvl1pPr>
          </a:lstStyle>
          <a:p>
            <a:endParaRPr lang="en-US" dirty="0"/>
          </a:p>
        </p:txBody>
      </p:sp>
      <p:sp>
        <p:nvSpPr>
          <p:cNvPr id="6" name="Slide Number Placeholder 5">
            <a:extLst>
              <a:ext uri="{FF2B5EF4-FFF2-40B4-BE49-F238E27FC236}">
                <a16:creationId xmlns:a16="http://schemas.microsoft.com/office/drawing/2014/main" id="{B12EC9D7-C36E-8469-F560-9FC97C8424E5}"/>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latin typeface="Arial" panose="020B0604020202020204" pitchFamily="34" charset="0"/>
              </a:defRPr>
            </a:lvl1pPr>
          </a:lstStyle>
          <a:p>
            <a:fld id="{C2BC48A5-4F43-4573-99E8-824F842D28E4}" type="slidenum">
              <a:rPr lang="en-US" smtClean="0"/>
              <a:pPr/>
              <a:t>‹#›</a:t>
            </a:fld>
            <a:endParaRPr lang="en-US" dirty="0"/>
          </a:p>
        </p:txBody>
      </p:sp>
    </p:spTree>
    <p:extLst>
      <p:ext uri="{BB962C8B-B14F-4D97-AF65-F5344CB8AC3E}">
        <p14:creationId xmlns:p14="http://schemas.microsoft.com/office/powerpoint/2010/main" val="55178586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Arial" panose="020B0604020202020204" pitchFamily="34" charset="0"/>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Arial" panose="020B0604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Arial" panose="020B060402020202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Arial" panose="020B060402020202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png"/><Relationship Id="rId1" Type="http://schemas.openxmlformats.org/officeDocument/2006/relationships/slideLayout" Target="../slideLayouts/slideLayout2.xml"/><Relationship Id="rId5" Type="http://schemas.openxmlformats.org/officeDocument/2006/relationships/image" Target="../media/image5.png"/><Relationship Id="rId4" Type="http://schemas.openxmlformats.org/officeDocument/2006/relationships/image" Target="../media/image4.jpg"/></Relationships>
</file>

<file path=ppt/slides/_rels/slide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8" Type="http://schemas.openxmlformats.org/officeDocument/2006/relationships/hyperlink" Target="https://www.federalreserve.gov/monetarypolicy.htm" TargetMode="External"/><Relationship Id="rId13" Type="http://schemas.openxmlformats.org/officeDocument/2006/relationships/hyperlink" Target="https://www.microsoft.com/" TargetMode="External"/><Relationship Id="rId3" Type="http://schemas.openxmlformats.org/officeDocument/2006/relationships/hyperlink" Target="https://www.investing.com/indices/us-30" TargetMode="External"/><Relationship Id="rId7" Type="http://schemas.openxmlformats.org/officeDocument/2006/relationships/hyperlink" Target="https://www.imf.org/en/Countries/USA" TargetMode="External"/><Relationship Id="rId12" Type="http://schemas.openxmlformats.org/officeDocument/2006/relationships/hyperlink" Target="https://www.goldmansachs.com/" TargetMode="External"/><Relationship Id="rId2" Type="http://schemas.openxmlformats.org/officeDocument/2006/relationships/hyperlink" Target="https://www.spglobal.com/spdji/en/indices/equity/dow-jones-industrial-average/" TargetMode="External"/><Relationship Id="rId1" Type="http://schemas.openxmlformats.org/officeDocument/2006/relationships/slideLayout" Target="../slideLayouts/slideLayout2.xml"/><Relationship Id="rId6" Type="http://schemas.openxmlformats.org/officeDocument/2006/relationships/hyperlink" Target="https://www.google.com/search?q=https://corporate.vanguard.com/content/corporatesite/us/en/corp/compliance/index.html" TargetMode="External"/><Relationship Id="rId11" Type="http://schemas.openxmlformats.org/officeDocument/2006/relationships/hyperlink" Target="https://en.wikipedia.org/wiki/Dow_Jones_Industrial_Average" TargetMode="External"/><Relationship Id="rId5" Type="http://schemas.openxmlformats.org/officeDocument/2006/relationships/hyperlink" Target="https://www.google.com/search?q=https://www.schwab.com/learn/market-insights" TargetMode="External"/><Relationship Id="rId10" Type="http://schemas.openxmlformats.org/officeDocument/2006/relationships/hyperlink" Target="https://www.camarkets.com/" TargetMode="External"/><Relationship Id="rId4" Type="http://schemas.openxmlformats.org/officeDocument/2006/relationships/hyperlink" Target="https://www.rbcwealthmanagement.com/" TargetMode="External"/><Relationship Id="rId9" Type="http://schemas.openxmlformats.org/officeDocument/2006/relationships/hyperlink" Target="https://www.bloomberg.com/graphics" TargetMode="External"/><Relationship Id="rId14" Type="http://schemas.openxmlformats.org/officeDocument/2006/relationships/hyperlink" Target="https://www.uhc.com/"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8D948F-3904-A849-2837-511A6B5BEB4C}"/>
              </a:ext>
            </a:extLst>
          </p:cNvPr>
          <p:cNvSpPr>
            <a:spLocks noGrp="1"/>
          </p:cNvSpPr>
          <p:nvPr>
            <p:ph type="ctrTitle"/>
          </p:nvPr>
        </p:nvSpPr>
        <p:spPr>
          <a:xfrm>
            <a:off x="361495" y="9155"/>
            <a:ext cx="4572000" cy="862693"/>
          </a:xfrm>
        </p:spPr>
        <p:txBody>
          <a:bodyPr>
            <a:noAutofit/>
          </a:bodyPr>
          <a:lstStyle/>
          <a:p>
            <a:pPr algn="l"/>
            <a:r>
              <a:rPr lang="fr-FR" sz="1600" b="1" dirty="0">
                <a:latin typeface="Arial" panose="020B0604020202020204" pitchFamily="34" charset="0"/>
                <a:cs typeface="Arial" panose="020B0604020202020204" pitchFamily="34" charset="0"/>
              </a:rPr>
              <a:t>Le Dow Jones depuis 2010 : d’un indice industriel à un baromètre technologique</a:t>
            </a:r>
            <a:endParaRPr lang="en-US" sz="1600" b="1" dirty="0">
              <a:latin typeface="Arial" panose="020B0604020202020204" pitchFamily="34" charset="0"/>
              <a:cs typeface="Arial" panose="020B0604020202020204" pitchFamily="34" charset="0"/>
            </a:endParaRPr>
          </a:p>
        </p:txBody>
      </p:sp>
      <p:sp>
        <p:nvSpPr>
          <p:cNvPr id="5" name="TextBox 4">
            <a:extLst>
              <a:ext uri="{FF2B5EF4-FFF2-40B4-BE49-F238E27FC236}">
                <a16:creationId xmlns:a16="http://schemas.microsoft.com/office/drawing/2014/main" id="{85995685-61A1-2231-2A47-5CCE879CF2E3}"/>
              </a:ext>
            </a:extLst>
          </p:cNvPr>
          <p:cNvSpPr txBox="1"/>
          <p:nvPr/>
        </p:nvSpPr>
        <p:spPr>
          <a:xfrm>
            <a:off x="5728335" y="1260487"/>
            <a:ext cx="5882640" cy="1450654"/>
          </a:xfrm>
          <a:prstGeom prst="rect">
            <a:avLst/>
          </a:prstGeom>
          <a:noFill/>
        </p:spPr>
        <p:txBody>
          <a:bodyPr wrap="square" rtlCol="0">
            <a:spAutoFit/>
          </a:bodyPr>
          <a:lstStyle/>
          <a:p>
            <a:pPr>
              <a:lnSpc>
                <a:spcPct val="150000"/>
              </a:lnSpc>
            </a:pPr>
            <a:r>
              <a:rPr lang="fr-FR" sz="1200" b="1" dirty="0">
                <a:latin typeface="Arial" panose="020B0604020202020204" pitchFamily="34" charset="0"/>
              </a:rPr>
              <a:t>Problématique :</a:t>
            </a:r>
          </a:p>
          <a:p>
            <a:pPr>
              <a:lnSpc>
                <a:spcPct val="150000"/>
              </a:lnSpc>
            </a:pPr>
            <a:r>
              <a:rPr lang="fr-FR" sz="1200" i="1" dirty="0">
                <a:latin typeface="Arial" panose="020B0604020202020204" pitchFamily="34" charset="0"/>
              </a:rPr>
              <a:t>Comment le Dow Jones a-t-il évolué depuis 2010 pour refléter la transition d’une économie industrielle vers une économie dominée par l’innovation technologique et l’intelligence artificielle ?</a:t>
            </a:r>
            <a:endParaRPr lang="fr-FR" sz="1200" dirty="0">
              <a:latin typeface="Arial" panose="020B0604020202020204" pitchFamily="34" charset="0"/>
            </a:endParaRPr>
          </a:p>
          <a:p>
            <a:pPr>
              <a:lnSpc>
                <a:spcPct val="150000"/>
              </a:lnSpc>
            </a:pPr>
            <a:endParaRPr lang="en-US" sz="1200" dirty="0">
              <a:latin typeface="Arial" panose="020B0604020202020204" pitchFamily="34" charset="0"/>
            </a:endParaRPr>
          </a:p>
        </p:txBody>
      </p:sp>
      <p:sp>
        <p:nvSpPr>
          <p:cNvPr id="6" name="TextBox 5">
            <a:extLst>
              <a:ext uri="{FF2B5EF4-FFF2-40B4-BE49-F238E27FC236}">
                <a16:creationId xmlns:a16="http://schemas.microsoft.com/office/drawing/2014/main" id="{FCDE9FC5-E689-7157-F449-AB03C0EE0E7E}"/>
              </a:ext>
            </a:extLst>
          </p:cNvPr>
          <p:cNvSpPr txBox="1"/>
          <p:nvPr/>
        </p:nvSpPr>
        <p:spPr>
          <a:xfrm>
            <a:off x="5520690" y="6088974"/>
            <a:ext cx="5882640" cy="369332"/>
          </a:xfrm>
          <a:prstGeom prst="rect">
            <a:avLst/>
          </a:prstGeom>
          <a:noFill/>
        </p:spPr>
        <p:txBody>
          <a:bodyPr wrap="square" rtlCol="0">
            <a:spAutoFit/>
          </a:bodyPr>
          <a:lstStyle/>
          <a:p>
            <a:r>
              <a:rPr lang="fr-FR" sz="900" dirty="0">
                <a:latin typeface="Arial" panose="020B0604020202020204" pitchFamily="34" charset="0"/>
              </a:rPr>
              <a:t>Graphique de l’évolution du Dow Jones (2010–2026)</a:t>
            </a:r>
            <a:br>
              <a:rPr lang="fr-FR" sz="900" dirty="0">
                <a:latin typeface="Arial" panose="020B0604020202020204" pitchFamily="34" charset="0"/>
              </a:rPr>
            </a:br>
            <a:r>
              <a:rPr lang="fr-FR" sz="900" dirty="0">
                <a:latin typeface="Arial" panose="020B0604020202020204" pitchFamily="34" charset="0"/>
              </a:rPr>
              <a:t>Source : Fichier Excel DOW 30, Onglet Performance Historique</a:t>
            </a:r>
            <a:endParaRPr lang="en-US" sz="900" dirty="0">
              <a:latin typeface="Arial" panose="020B0604020202020204" pitchFamily="34" charset="0"/>
            </a:endParaRPr>
          </a:p>
        </p:txBody>
      </p:sp>
      <p:pic>
        <p:nvPicPr>
          <p:cNvPr id="7" name="Picture 6">
            <a:extLst>
              <a:ext uri="{FF2B5EF4-FFF2-40B4-BE49-F238E27FC236}">
                <a16:creationId xmlns:a16="http://schemas.microsoft.com/office/drawing/2014/main" id="{4F3932AF-0C79-DB1E-FF90-15409AE09A2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384345" y="3356062"/>
            <a:ext cx="5978980" cy="2687060"/>
          </a:xfrm>
          <a:prstGeom prst="rect">
            <a:avLst/>
          </a:prstGeom>
        </p:spPr>
      </p:pic>
      <p:sp>
        <p:nvSpPr>
          <p:cNvPr id="8" name="Slide Number Placeholder 7">
            <a:extLst>
              <a:ext uri="{FF2B5EF4-FFF2-40B4-BE49-F238E27FC236}">
                <a16:creationId xmlns:a16="http://schemas.microsoft.com/office/drawing/2014/main" id="{C3473685-4407-C10F-F73A-F0996BE9B647}"/>
              </a:ext>
            </a:extLst>
          </p:cNvPr>
          <p:cNvSpPr>
            <a:spLocks noGrp="1"/>
          </p:cNvSpPr>
          <p:nvPr>
            <p:ph type="sldNum" sz="quarter" idx="12"/>
          </p:nvPr>
        </p:nvSpPr>
        <p:spPr>
          <a:xfrm>
            <a:off x="8793480" y="6237478"/>
            <a:ext cx="2743200" cy="365125"/>
          </a:xfrm>
        </p:spPr>
        <p:txBody>
          <a:bodyPr/>
          <a:lstStyle/>
          <a:p>
            <a:fld id="{C2BC48A5-4F43-4573-99E8-824F842D28E4}" type="slidenum">
              <a:rPr lang="en-US" smtClean="0"/>
              <a:t>1</a:t>
            </a:fld>
            <a:endParaRPr lang="en-US"/>
          </a:p>
        </p:txBody>
      </p:sp>
      <p:sp>
        <p:nvSpPr>
          <p:cNvPr id="9" name="TextBox 8">
            <a:extLst>
              <a:ext uri="{FF2B5EF4-FFF2-40B4-BE49-F238E27FC236}">
                <a16:creationId xmlns:a16="http://schemas.microsoft.com/office/drawing/2014/main" id="{E121715B-0B12-74EB-D160-DC76AF790F30}"/>
              </a:ext>
            </a:extLst>
          </p:cNvPr>
          <p:cNvSpPr txBox="1"/>
          <p:nvPr/>
        </p:nvSpPr>
        <p:spPr>
          <a:xfrm>
            <a:off x="6240780" y="107735"/>
            <a:ext cx="11745468" cy="507831"/>
          </a:xfrm>
          <a:prstGeom prst="rect">
            <a:avLst/>
          </a:prstGeom>
          <a:noFill/>
        </p:spPr>
        <p:txBody>
          <a:bodyPr wrap="square" rtlCol="0">
            <a:spAutoFit/>
          </a:bodyPr>
          <a:lstStyle/>
          <a:p>
            <a:r>
              <a:rPr lang="en-US" sz="900" dirty="0" err="1">
                <a:latin typeface="Arial" panose="020B0604020202020204" pitchFamily="34" charset="0"/>
                <a:cs typeface="Arial" panose="020B0604020202020204" pitchFamily="34" charset="0"/>
              </a:rPr>
              <a:t>Évolution</a:t>
            </a:r>
            <a:r>
              <a:rPr lang="en-US" sz="900" dirty="0">
                <a:latin typeface="Arial" panose="020B0604020202020204" pitchFamily="34" charset="0"/>
                <a:cs typeface="Arial" panose="020B0604020202020204" pitchFamily="34" charset="0"/>
              </a:rPr>
              <a:t> du </a:t>
            </a:r>
            <a:r>
              <a:rPr lang="en-US" sz="900" dirty="0" err="1">
                <a:latin typeface="Arial" panose="020B0604020202020204" pitchFamily="34" charset="0"/>
                <a:cs typeface="Arial" panose="020B0604020202020204" pitchFamily="34" charset="0"/>
              </a:rPr>
              <a:t>marché</a:t>
            </a:r>
            <a:r>
              <a:rPr lang="en-US" sz="900" dirty="0">
                <a:latin typeface="Arial" panose="020B0604020202020204" pitchFamily="34" charset="0"/>
                <a:cs typeface="Arial" panose="020B0604020202020204" pitchFamily="34" charset="0"/>
              </a:rPr>
              <a:t> des actions aux États-Unis </a:t>
            </a:r>
            <a:r>
              <a:rPr lang="en-US" sz="900" dirty="0" err="1">
                <a:latin typeface="Arial" panose="020B0604020202020204" pitchFamily="34" charset="0"/>
                <a:cs typeface="Arial" panose="020B0604020202020204" pitchFamily="34" charset="0"/>
              </a:rPr>
              <a:t>depuis</a:t>
            </a:r>
            <a:r>
              <a:rPr lang="en-US" sz="900" dirty="0">
                <a:latin typeface="Arial" panose="020B0604020202020204" pitchFamily="34" charset="0"/>
                <a:cs typeface="Arial" panose="020B0604020202020204" pitchFamily="34" charset="0"/>
              </a:rPr>
              <a:t> 2010 :                                                  </a:t>
            </a:r>
            <a:r>
              <a:rPr lang="en-US" sz="900" dirty="0" err="1">
                <a:latin typeface="Arial" panose="020B0604020202020204" pitchFamily="34" charset="0"/>
              </a:rPr>
              <a:t>Plotnykov</a:t>
            </a:r>
            <a:r>
              <a:rPr lang="en-US" sz="900" dirty="0">
                <a:latin typeface="Arial" panose="020B0604020202020204" pitchFamily="34" charset="0"/>
              </a:rPr>
              <a:t> Andrii</a:t>
            </a:r>
            <a:br>
              <a:rPr lang="en-US" sz="900" dirty="0">
                <a:latin typeface="Arial" panose="020B0604020202020204" pitchFamily="34" charset="0"/>
                <a:cs typeface="Arial" panose="020B0604020202020204" pitchFamily="34" charset="0"/>
              </a:rPr>
            </a:br>
            <a:r>
              <a:rPr lang="en-US" sz="900" dirty="0" err="1">
                <a:latin typeface="Arial" panose="020B0604020202020204" pitchFamily="34" charset="0"/>
                <a:cs typeface="Arial" panose="020B0604020202020204" pitchFamily="34" charset="0"/>
              </a:rPr>
              <a:t>l’exemple</a:t>
            </a:r>
            <a:r>
              <a:rPr lang="en-US" sz="900" dirty="0">
                <a:latin typeface="Arial" panose="020B0604020202020204" pitchFamily="34" charset="0"/>
                <a:cs typeface="Arial" panose="020B0604020202020204" pitchFamily="34" charset="0"/>
              </a:rPr>
              <a:t> de </a:t>
            </a:r>
            <a:r>
              <a:rPr lang="en-US" sz="900" dirty="0" err="1">
                <a:latin typeface="Arial" panose="020B0604020202020204" pitchFamily="34" charset="0"/>
                <a:cs typeface="Arial" panose="020B0604020202020204" pitchFamily="34" charset="0"/>
              </a:rPr>
              <a:t>l’indice</a:t>
            </a:r>
            <a:r>
              <a:rPr lang="en-US" sz="900" dirty="0">
                <a:latin typeface="Arial" panose="020B0604020202020204" pitchFamily="34" charset="0"/>
                <a:cs typeface="Arial" panose="020B0604020202020204" pitchFamily="34" charset="0"/>
              </a:rPr>
              <a:t> Dow Jones Industrial Average. </a:t>
            </a:r>
          </a:p>
          <a:p>
            <a:endParaRPr lang="en-US" sz="900" dirty="0">
              <a:latin typeface="Arial" panose="020B0604020202020204" pitchFamily="34" charset="0"/>
            </a:endParaRPr>
          </a:p>
        </p:txBody>
      </p:sp>
      <p:sp>
        <p:nvSpPr>
          <p:cNvPr id="13" name="Rectangle 4">
            <a:extLst>
              <a:ext uri="{FF2B5EF4-FFF2-40B4-BE49-F238E27FC236}">
                <a16:creationId xmlns:a16="http://schemas.microsoft.com/office/drawing/2014/main" id="{CCE1177C-B284-C334-0C41-5F36340379E4}"/>
              </a:ext>
            </a:extLst>
          </p:cNvPr>
          <p:cNvSpPr>
            <a:spLocks noGrp="1" noChangeArrowheads="1"/>
          </p:cNvSpPr>
          <p:nvPr>
            <p:ph type="subTitle" idx="1"/>
          </p:nvPr>
        </p:nvSpPr>
        <p:spPr bwMode="auto">
          <a:xfrm>
            <a:off x="361495" y="871848"/>
            <a:ext cx="5022850" cy="600164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algn="l" eaLnBrk="0" fontAlgn="base" hangingPunct="0">
              <a:lnSpc>
                <a:spcPct val="100000"/>
              </a:lnSpc>
              <a:spcBef>
                <a:spcPct val="0"/>
              </a:spcBef>
              <a:spcAft>
                <a:spcPct val="0"/>
              </a:spcAft>
              <a:buFontTx/>
              <a:buChar char="•"/>
            </a:pPr>
            <a:r>
              <a:rPr lang="en-US" altLang="en-US" sz="1200" b="1" dirty="0">
                <a:latin typeface="Arial" panose="020B0604020202020204" pitchFamily="34" charset="0"/>
              </a:rPr>
              <a:t> Record </a:t>
            </a:r>
            <a:r>
              <a:rPr lang="en-US" altLang="en-US" sz="1200" b="1" dirty="0" err="1">
                <a:latin typeface="Arial" panose="020B0604020202020204" pitchFamily="34" charset="0"/>
              </a:rPr>
              <a:t>janvier</a:t>
            </a:r>
            <a:r>
              <a:rPr lang="en-US" altLang="en-US" sz="1200" b="1" dirty="0">
                <a:latin typeface="Arial" panose="020B0604020202020204" pitchFamily="34" charset="0"/>
              </a:rPr>
              <a:t> 2026</a:t>
            </a:r>
            <a:r>
              <a:rPr lang="en-US" altLang="en-US" sz="1200" dirty="0">
                <a:latin typeface="Arial" panose="020B0604020202020204" pitchFamily="34" charset="0"/>
              </a:rPr>
              <a:t> - Le </a:t>
            </a:r>
            <a:r>
              <a:rPr lang="en-US" altLang="en-US" sz="1200" dirty="0" err="1">
                <a:latin typeface="Arial" panose="020B0604020202020204" pitchFamily="34" charset="0"/>
              </a:rPr>
              <a:t>franchissement</a:t>
            </a:r>
            <a:r>
              <a:rPr lang="en-US" altLang="en-US" sz="1200" dirty="0">
                <a:latin typeface="Arial" panose="020B0604020202020204" pitchFamily="34" charset="0"/>
              </a:rPr>
              <a:t> d’un </a:t>
            </a:r>
            <a:r>
              <a:rPr lang="en-US" altLang="en-US" sz="1200" dirty="0" err="1">
                <a:latin typeface="Arial" panose="020B0604020202020204" pitchFamily="34" charset="0"/>
              </a:rPr>
              <a:t>sommet</a:t>
            </a:r>
            <a:r>
              <a:rPr lang="en-US" altLang="en-US" sz="1200" dirty="0">
                <a:latin typeface="Arial" panose="020B0604020202020204" pitchFamily="34" charset="0"/>
              </a:rPr>
              <a:t> </a:t>
            </a:r>
            <a:r>
              <a:rPr lang="en-US" altLang="en-US" sz="1200" dirty="0" err="1">
                <a:latin typeface="Arial" panose="020B0604020202020204" pitchFamily="34" charset="0"/>
              </a:rPr>
              <a:t>historique</a:t>
            </a:r>
            <a:r>
              <a:rPr lang="en-US" altLang="en-US" sz="1200" dirty="0">
                <a:latin typeface="Arial" panose="020B0604020202020204" pitchFamily="34" charset="0"/>
              </a:rPr>
              <a:t> </a:t>
            </a:r>
            <a:r>
              <a:rPr lang="en-US" altLang="en-US" sz="1200" dirty="0" err="1">
                <a:latin typeface="Arial" panose="020B0604020202020204" pitchFamily="34" charset="0"/>
              </a:rPr>
              <a:t>proche</a:t>
            </a:r>
            <a:r>
              <a:rPr lang="en-US" altLang="en-US" sz="1200" dirty="0">
                <a:latin typeface="Arial" panose="020B0604020202020204" pitchFamily="34" charset="0"/>
              </a:rPr>
              <a:t> de 49 600 points </a:t>
            </a:r>
            <a:r>
              <a:rPr lang="en-US" altLang="en-US" sz="1200" dirty="0" err="1">
                <a:latin typeface="Arial" panose="020B0604020202020204" pitchFamily="34" charset="0"/>
              </a:rPr>
              <a:t>en</a:t>
            </a:r>
            <a:r>
              <a:rPr lang="en-US" altLang="en-US" sz="1200" dirty="0">
                <a:latin typeface="Arial" panose="020B0604020202020204" pitchFamily="34" charset="0"/>
              </a:rPr>
              <a:t> </a:t>
            </a:r>
            <a:r>
              <a:rPr lang="en-US" altLang="en-US" sz="1200" dirty="0" err="1">
                <a:latin typeface="Arial" panose="020B0604020202020204" pitchFamily="34" charset="0"/>
              </a:rPr>
              <a:t>janvier</a:t>
            </a:r>
            <a:r>
              <a:rPr lang="en-US" altLang="en-US" sz="1200" dirty="0">
                <a:latin typeface="Arial" panose="020B0604020202020204" pitchFamily="34" charset="0"/>
              </a:rPr>
              <a:t> 2026 </a:t>
            </a:r>
            <a:r>
              <a:rPr lang="en-US" altLang="en-US" sz="1200" dirty="0" err="1">
                <a:latin typeface="Arial" panose="020B0604020202020204" pitchFamily="34" charset="0"/>
              </a:rPr>
              <a:t>positionne</a:t>
            </a:r>
            <a:r>
              <a:rPr lang="en-US" altLang="en-US" sz="1200" dirty="0">
                <a:latin typeface="Arial" panose="020B0604020202020204" pitchFamily="34" charset="0"/>
              </a:rPr>
              <a:t> le Dow Jones </a:t>
            </a:r>
            <a:r>
              <a:rPr lang="en-US" altLang="en-US" sz="1200" dirty="0" err="1">
                <a:latin typeface="Arial" panose="020B0604020202020204" pitchFamily="34" charset="0"/>
              </a:rPr>
              <a:t>comme</a:t>
            </a:r>
            <a:r>
              <a:rPr lang="en-US" altLang="en-US" sz="1200" dirty="0">
                <a:latin typeface="Arial" panose="020B0604020202020204" pitchFamily="34" charset="0"/>
              </a:rPr>
              <a:t> </a:t>
            </a:r>
            <a:r>
              <a:rPr lang="en-US" altLang="en-US" sz="1200" dirty="0" err="1">
                <a:latin typeface="Arial" panose="020B0604020202020204" pitchFamily="34" charset="0"/>
              </a:rPr>
              <a:t>l’aboutissement</a:t>
            </a:r>
            <a:r>
              <a:rPr lang="en-US" altLang="en-US" sz="1200" dirty="0">
                <a:latin typeface="Arial" panose="020B0604020202020204" pitchFamily="34" charset="0"/>
              </a:rPr>
              <a:t> d’un cycle de </a:t>
            </a:r>
            <a:r>
              <a:rPr lang="en-US" altLang="en-US" sz="1200" dirty="0" err="1">
                <a:latin typeface="Arial" panose="020B0604020202020204" pitchFamily="34" charset="0"/>
              </a:rPr>
              <a:t>réévaluation</a:t>
            </a:r>
            <a:r>
              <a:rPr lang="en-US" altLang="en-US" sz="1200" dirty="0">
                <a:latin typeface="Arial" panose="020B0604020202020204" pitchFamily="34" charset="0"/>
              </a:rPr>
              <a:t> </a:t>
            </a:r>
            <a:r>
              <a:rPr lang="en-US" altLang="en-US" sz="1200" dirty="0" err="1">
                <a:latin typeface="Arial" panose="020B0604020202020204" pitchFamily="34" charset="0"/>
              </a:rPr>
              <a:t>structurelle</a:t>
            </a:r>
            <a:r>
              <a:rPr lang="en-US" altLang="en-US" sz="1200" dirty="0">
                <a:latin typeface="Arial" panose="020B0604020202020204" pitchFamily="34" charset="0"/>
              </a:rPr>
              <a:t> des </a:t>
            </a:r>
            <a:r>
              <a:rPr lang="en-US" altLang="en-US" sz="1200" dirty="0" err="1">
                <a:latin typeface="Arial" panose="020B0604020202020204" pitchFamily="34" charset="0"/>
              </a:rPr>
              <a:t>actifs</a:t>
            </a:r>
            <a:r>
              <a:rPr lang="en-US" altLang="en-US" sz="1200" dirty="0">
                <a:latin typeface="Arial" panose="020B0604020202020204" pitchFamily="34" charset="0"/>
              </a:rPr>
              <a:t> </a:t>
            </a:r>
            <a:r>
              <a:rPr lang="en-US" altLang="en-US" sz="1200" dirty="0" err="1">
                <a:latin typeface="Arial" panose="020B0604020202020204" pitchFamily="34" charset="0"/>
              </a:rPr>
              <a:t>américains</a:t>
            </a:r>
            <a:r>
              <a:rPr lang="en-US" altLang="en-US" sz="1200" dirty="0">
                <a:latin typeface="Arial" panose="020B0604020202020204" pitchFamily="34" charset="0"/>
              </a:rPr>
              <a:t> </a:t>
            </a:r>
            <a:r>
              <a:rPr lang="en-US" altLang="en-US" sz="1200" dirty="0" err="1">
                <a:latin typeface="Arial" panose="020B0604020202020204" pitchFamily="34" charset="0"/>
              </a:rPr>
              <a:t>plutôt</a:t>
            </a:r>
            <a:r>
              <a:rPr lang="en-US" altLang="en-US" sz="1200" dirty="0">
                <a:latin typeface="Arial" panose="020B0604020202020204" pitchFamily="34" charset="0"/>
              </a:rPr>
              <a:t> </a:t>
            </a:r>
            <a:r>
              <a:rPr lang="en-US" altLang="en-US" sz="1200" dirty="0" err="1">
                <a:latin typeface="Arial" panose="020B0604020202020204" pitchFamily="34" charset="0"/>
              </a:rPr>
              <a:t>que</a:t>
            </a:r>
            <a:r>
              <a:rPr lang="en-US" altLang="en-US" sz="1200" dirty="0">
                <a:latin typeface="Arial" panose="020B0604020202020204" pitchFamily="34" charset="0"/>
              </a:rPr>
              <a:t> </a:t>
            </a:r>
            <a:r>
              <a:rPr lang="en-US" altLang="en-US" sz="1200" dirty="0" err="1">
                <a:latin typeface="Arial" panose="020B0604020202020204" pitchFamily="34" charset="0"/>
              </a:rPr>
              <a:t>comme</a:t>
            </a:r>
            <a:r>
              <a:rPr lang="en-US" altLang="en-US" sz="1200" dirty="0">
                <a:latin typeface="Arial" panose="020B0604020202020204" pitchFamily="34" charset="0"/>
              </a:rPr>
              <a:t> un simple </a:t>
            </a:r>
            <a:r>
              <a:rPr lang="en-US" altLang="en-US" sz="1200" dirty="0" err="1">
                <a:latin typeface="Arial" panose="020B0604020202020204" pitchFamily="34" charset="0"/>
              </a:rPr>
              <a:t>excès</a:t>
            </a:r>
            <a:r>
              <a:rPr lang="en-US" altLang="en-US" sz="1200" dirty="0">
                <a:latin typeface="Arial" panose="020B0604020202020204" pitchFamily="34" charset="0"/>
              </a:rPr>
              <a:t> </a:t>
            </a:r>
            <a:r>
              <a:rPr lang="en-US" altLang="en-US" sz="1200" dirty="0" err="1">
                <a:latin typeface="Arial" panose="020B0604020202020204" pitchFamily="34" charset="0"/>
              </a:rPr>
              <a:t>conjoncturel</a:t>
            </a:r>
            <a:r>
              <a:rPr lang="en-US" altLang="en-US" sz="1200" dirty="0">
                <a:latin typeface="Arial" panose="020B0604020202020204" pitchFamily="34" charset="0"/>
              </a:rPr>
              <a:t> de </a:t>
            </a:r>
            <a:r>
              <a:rPr lang="en-US" altLang="en-US" sz="1200" dirty="0" err="1">
                <a:latin typeface="Arial" panose="020B0604020202020204" pitchFamily="34" charset="0"/>
              </a:rPr>
              <a:t>marché</a:t>
            </a:r>
            <a:r>
              <a:rPr lang="en-US" altLang="en-US" sz="1200" dirty="0">
                <a:latin typeface="Arial" panose="020B0604020202020204" pitchFamily="34" charset="0"/>
              </a:rPr>
              <a:t>.</a:t>
            </a:r>
          </a:p>
          <a:p>
            <a:pPr lvl="0" algn="l" eaLnBrk="0" fontAlgn="base" hangingPunct="0">
              <a:lnSpc>
                <a:spcPct val="100000"/>
              </a:lnSpc>
              <a:spcBef>
                <a:spcPct val="0"/>
              </a:spcBef>
              <a:spcAft>
                <a:spcPct val="0"/>
              </a:spcAft>
            </a:pPr>
            <a:endParaRPr lang="en-US" altLang="en-US" sz="1200" b="1" dirty="0">
              <a:latin typeface="Arial" panose="020B0604020202020204" pitchFamily="34" charset="0"/>
            </a:endParaRPr>
          </a:p>
          <a:p>
            <a:pPr lvl="0" algn="l" eaLnBrk="0" fontAlgn="base" hangingPunct="0">
              <a:lnSpc>
                <a:spcPct val="100000"/>
              </a:lnSpc>
              <a:spcBef>
                <a:spcPct val="0"/>
              </a:spcBef>
              <a:spcAft>
                <a:spcPct val="0"/>
              </a:spcAft>
              <a:buFontTx/>
              <a:buChar char="•"/>
            </a:pPr>
            <a:r>
              <a:rPr lang="en-US" altLang="en-US" sz="1200" b="1" dirty="0">
                <a:latin typeface="Arial" panose="020B0604020202020204" pitchFamily="34" charset="0"/>
              </a:rPr>
              <a:t> </a:t>
            </a:r>
            <a:r>
              <a:rPr lang="en-US" altLang="en-US" sz="1200" b="1" dirty="0" err="1">
                <a:latin typeface="Arial" panose="020B0604020202020204" pitchFamily="34" charset="0"/>
              </a:rPr>
              <a:t>Héritage</a:t>
            </a:r>
            <a:r>
              <a:rPr lang="en-US" altLang="en-US" sz="1200" b="1" dirty="0">
                <a:latin typeface="Arial" panose="020B0604020202020204" pitchFamily="34" charset="0"/>
              </a:rPr>
              <a:t> post-crise 2008–2009</a:t>
            </a:r>
            <a:r>
              <a:rPr lang="en-US" altLang="en-US" sz="1200" dirty="0">
                <a:latin typeface="Arial" panose="020B0604020202020204" pitchFamily="34" charset="0"/>
              </a:rPr>
              <a:t> - La </a:t>
            </a:r>
            <a:r>
              <a:rPr lang="en-US" altLang="en-US" sz="1200" dirty="0" err="1">
                <a:latin typeface="Arial" panose="020B0604020202020204" pitchFamily="34" charset="0"/>
              </a:rPr>
              <a:t>trajectoire</a:t>
            </a:r>
            <a:r>
              <a:rPr lang="en-US" altLang="en-US" sz="1200" dirty="0">
                <a:latin typeface="Arial" panose="020B0604020202020204" pitchFamily="34" charset="0"/>
              </a:rPr>
              <a:t> du Dow Jones </a:t>
            </a:r>
            <a:r>
              <a:rPr lang="en-US" altLang="en-US" sz="1200" dirty="0" err="1">
                <a:latin typeface="Arial" panose="020B0604020202020204" pitchFamily="34" charset="0"/>
              </a:rPr>
              <a:t>depuis</a:t>
            </a:r>
            <a:r>
              <a:rPr lang="en-US" altLang="en-US" sz="1200" dirty="0">
                <a:latin typeface="Arial" panose="020B0604020202020204" pitchFamily="34" charset="0"/>
              </a:rPr>
              <a:t> 2010 </a:t>
            </a:r>
            <a:r>
              <a:rPr lang="en-US" altLang="en-US" sz="1200" dirty="0" err="1">
                <a:latin typeface="Arial" panose="020B0604020202020204" pitchFamily="34" charset="0"/>
              </a:rPr>
              <a:t>s’inscrit</a:t>
            </a:r>
            <a:r>
              <a:rPr lang="en-US" altLang="en-US" sz="1200" dirty="0">
                <a:latin typeface="Arial" panose="020B0604020202020204" pitchFamily="34" charset="0"/>
              </a:rPr>
              <a:t> dans </a:t>
            </a:r>
            <a:r>
              <a:rPr lang="en-US" altLang="en-US" sz="1200" dirty="0" err="1">
                <a:latin typeface="Arial" panose="020B0604020202020204" pitchFamily="34" charset="0"/>
              </a:rPr>
              <a:t>une</a:t>
            </a:r>
            <a:r>
              <a:rPr lang="en-US" altLang="en-US" sz="1200" dirty="0">
                <a:latin typeface="Arial" panose="020B0604020202020204" pitchFamily="34" charset="0"/>
              </a:rPr>
              <a:t> phase de reconstruction post-Grande </a:t>
            </a:r>
            <a:r>
              <a:rPr lang="en-US" altLang="en-US" sz="1200" dirty="0" err="1">
                <a:latin typeface="Arial" panose="020B0604020202020204" pitchFamily="34" charset="0"/>
              </a:rPr>
              <a:t>Récession</a:t>
            </a:r>
            <a:r>
              <a:rPr lang="en-US" altLang="en-US" sz="1200" dirty="0">
                <a:latin typeface="Arial" panose="020B0604020202020204" pitchFamily="34" charset="0"/>
              </a:rPr>
              <a:t>, </a:t>
            </a:r>
            <a:r>
              <a:rPr lang="en-US" altLang="en-US" sz="1200" dirty="0" err="1">
                <a:latin typeface="Arial" panose="020B0604020202020204" pitchFamily="34" charset="0"/>
              </a:rPr>
              <a:t>marquée</a:t>
            </a:r>
            <a:r>
              <a:rPr lang="en-US" altLang="en-US" sz="1200" dirty="0">
                <a:latin typeface="Arial" panose="020B0604020202020204" pitchFamily="34" charset="0"/>
              </a:rPr>
              <a:t> par la </a:t>
            </a:r>
            <a:r>
              <a:rPr lang="en-US" altLang="en-US" sz="1200" dirty="0" err="1">
                <a:latin typeface="Arial" panose="020B0604020202020204" pitchFamily="34" charset="0"/>
              </a:rPr>
              <a:t>stabilisation</a:t>
            </a:r>
            <a:r>
              <a:rPr lang="en-US" altLang="en-US" sz="1200" dirty="0">
                <a:latin typeface="Arial" panose="020B0604020202020204" pitchFamily="34" charset="0"/>
              </a:rPr>
              <a:t> du </a:t>
            </a:r>
            <a:r>
              <a:rPr lang="en-US" altLang="en-US" sz="1200" dirty="0" err="1">
                <a:latin typeface="Arial" panose="020B0604020202020204" pitchFamily="34" charset="0"/>
              </a:rPr>
              <a:t>système</a:t>
            </a:r>
            <a:r>
              <a:rPr lang="en-US" altLang="en-US" sz="1200" dirty="0">
                <a:latin typeface="Arial" panose="020B0604020202020204" pitchFamily="34" charset="0"/>
              </a:rPr>
              <a:t> financier et la restauration progressive de la </a:t>
            </a:r>
            <a:r>
              <a:rPr lang="en-US" altLang="en-US" sz="1200" dirty="0" err="1">
                <a:latin typeface="Arial" panose="020B0604020202020204" pitchFamily="34" charset="0"/>
              </a:rPr>
              <a:t>confiance</a:t>
            </a:r>
            <a:r>
              <a:rPr lang="en-US" altLang="en-US" sz="1200" dirty="0">
                <a:latin typeface="Arial" panose="020B0604020202020204" pitchFamily="34" charset="0"/>
              </a:rPr>
              <a:t> des </a:t>
            </a:r>
            <a:r>
              <a:rPr lang="en-US" altLang="en-US" sz="1200" dirty="0" err="1">
                <a:latin typeface="Arial" panose="020B0604020202020204" pitchFamily="34" charset="0"/>
              </a:rPr>
              <a:t>investisseurs</a:t>
            </a:r>
            <a:r>
              <a:rPr lang="en-US" altLang="en-US" sz="1200" dirty="0">
                <a:latin typeface="Arial" panose="020B0604020202020204" pitchFamily="34" charset="0"/>
              </a:rPr>
              <a:t>.</a:t>
            </a:r>
          </a:p>
          <a:p>
            <a:pPr lvl="0" algn="l" eaLnBrk="0" fontAlgn="base" hangingPunct="0">
              <a:lnSpc>
                <a:spcPct val="100000"/>
              </a:lnSpc>
              <a:spcBef>
                <a:spcPct val="0"/>
              </a:spcBef>
              <a:spcAft>
                <a:spcPct val="0"/>
              </a:spcAft>
            </a:pPr>
            <a:endParaRPr lang="en-US" altLang="en-US" sz="1200" dirty="0">
              <a:latin typeface="Arial" panose="020B0604020202020204" pitchFamily="34" charset="0"/>
            </a:endParaRPr>
          </a:p>
          <a:p>
            <a:pPr lvl="0" algn="l" eaLnBrk="0" fontAlgn="base" hangingPunct="0">
              <a:lnSpc>
                <a:spcPct val="100000"/>
              </a:lnSpc>
              <a:spcBef>
                <a:spcPct val="0"/>
              </a:spcBef>
              <a:spcAft>
                <a:spcPct val="0"/>
              </a:spcAft>
              <a:buFontTx/>
              <a:buChar char="•"/>
            </a:pPr>
            <a:r>
              <a:rPr lang="en-US" altLang="en-US" sz="1200" b="1" dirty="0">
                <a:latin typeface="Arial" panose="020B0604020202020204" pitchFamily="34" charset="0"/>
              </a:rPr>
              <a:t> Politiques </a:t>
            </a:r>
            <a:r>
              <a:rPr lang="en-US" altLang="en-US" sz="1200" b="1" dirty="0" err="1">
                <a:latin typeface="Arial" panose="020B0604020202020204" pitchFamily="34" charset="0"/>
              </a:rPr>
              <a:t>monétaires</a:t>
            </a:r>
            <a:r>
              <a:rPr lang="en-US" altLang="en-US" sz="1200" b="1" dirty="0">
                <a:latin typeface="Arial" panose="020B0604020202020204" pitchFamily="34" charset="0"/>
              </a:rPr>
              <a:t> </a:t>
            </a:r>
            <a:r>
              <a:rPr lang="en-US" altLang="en-US" sz="1200" b="1" dirty="0" err="1">
                <a:latin typeface="Arial" panose="020B0604020202020204" pitchFamily="34" charset="0"/>
              </a:rPr>
              <a:t>accommodantes</a:t>
            </a:r>
            <a:r>
              <a:rPr lang="en-US" altLang="en-US" sz="1200" dirty="0">
                <a:latin typeface="Arial" panose="020B0604020202020204" pitchFamily="34" charset="0"/>
              </a:rPr>
              <a:t> - Le </a:t>
            </a:r>
            <a:r>
              <a:rPr lang="en-US" altLang="en-US" sz="1200" dirty="0" err="1">
                <a:latin typeface="Arial" panose="020B0604020202020204" pitchFamily="34" charset="0"/>
              </a:rPr>
              <a:t>maintien</a:t>
            </a:r>
            <a:r>
              <a:rPr lang="en-US" altLang="en-US" sz="1200" dirty="0">
                <a:latin typeface="Arial" panose="020B0604020202020204" pitchFamily="34" charset="0"/>
              </a:rPr>
              <a:t> </a:t>
            </a:r>
            <a:r>
              <a:rPr lang="en-US" altLang="en-US" sz="1200" dirty="0" err="1">
                <a:latin typeface="Arial" panose="020B0604020202020204" pitchFamily="34" charset="0"/>
              </a:rPr>
              <a:t>prolongé</a:t>
            </a:r>
            <a:r>
              <a:rPr lang="en-US" altLang="en-US" sz="1200" dirty="0">
                <a:latin typeface="Arial" panose="020B0604020202020204" pitchFamily="34" charset="0"/>
              </a:rPr>
              <a:t> de </a:t>
            </a:r>
            <a:r>
              <a:rPr lang="en-US" altLang="en-US" sz="1200" dirty="0" err="1">
                <a:latin typeface="Arial" panose="020B0604020202020204" pitchFamily="34" charset="0"/>
              </a:rPr>
              <a:t>taux</a:t>
            </a:r>
            <a:r>
              <a:rPr lang="en-US" altLang="en-US" sz="1200" dirty="0">
                <a:latin typeface="Arial" panose="020B0604020202020204" pitchFamily="34" charset="0"/>
              </a:rPr>
              <a:t> </a:t>
            </a:r>
            <a:r>
              <a:rPr lang="en-US" altLang="en-US" sz="1200" dirty="0" err="1">
                <a:latin typeface="Arial" panose="020B0604020202020204" pitchFamily="34" charset="0"/>
              </a:rPr>
              <a:t>réels</a:t>
            </a:r>
            <a:r>
              <a:rPr lang="en-US" altLang="en-US" sz="1200" dirty="0">
                <a:latin typeface="Arial" panose="020B0604020202020204" pitchFamily="34" charset="0"/>
              </a:rPr>
              <a:t> bas et les </a:t>
            </a:r>
            <a:r>
              <a:rPr lang="en-US" altLang="en-US" sz="1200" dirty="0" err="1">
                <a:latin typeface="Arial" panose="020B0604020202020204" pitchFamily="34" charset="0"/>
              </a:rPr>
              <a:t>programmes</a:t>
            </a:r>
            <a:r>
              <a:rPr lang="en-US" altLang="en-US" sz="1200" dirty="0">
                <a:latin typeface="Arial" panose="020B0604020202020204" pitchFamily="34" charset="0"/>
              </a:rPr>
              <a:t> </a:t>
            </a:r>
            <a:r>
              <a:rPr lang="en-US" altLang="en-US" sz="1200" dirty="0" err="1">
                <a:latin typeface="Arial" panose="020B0604020202020204" pitchFamily="34" charset="0"/>
              </a:rPr>
              <a:t>d’assouplissement</a:t>
            </a:r>
            <a:r>
              <a:rPr lang="en-US" altLang="en-US" sz="1200" dirty="0">
                <a:latin typeface="Arial" panose="020B0604020202020204" pitchFamily="34" charset="0"/>
              </a:rPr>
              <a:t> </a:t>
            </a:r>
            <a:r>
              <a:rPr lang="en-US" altLang="en-US" sz="1200" dirty="0" err="1">
                <a:latin typeface="Arial" panose="020B0604020202020204" pitchFamily="34" charset="0"/>
              </a:rPr>
              <a:t>quantitatif</a:t>
            </a:r>
            <a:r>
              <a:rPr lang="en-US" altLang="en-US" sz="1200" dirty="0">
                <a:latin typeface="Arial" panose="020B0604020202020204" pitchFamily="34" charset="0"/>
              </a:rPr>
              <a:t> </a:t>
            </a:r>
            <a:r>
              <a:rPr lang="en-US" altLang="en-US" sz="1200" dirty="0" err="1">
                <a:latin typeface="Arial" panose="020B0604020202020204" pitchFamily="34" charset="0"/>
              </a:rPr>
              <a:t>ont</a:t>
            </a:r>
            <a:r>
              <a:rPr lang="en-US" altLang="en-US" sz="1200" dirty="0">
                <a:latin typeface="Arial" panose="020B0604020202020204" pitchFamily="34" charset="0"/>
              </a:rPr>
              <a:t> </a:t>
            </a:r>
            <a:r>
              <a:rPr lang="en-US" altLang="en-US" sz="1200" dirty="0" err="1">
                <a:latin typeface="Arial" panose="020B0604020202020204" pitchFamily="34" charset="0"/>
              </a:rPr>
              <a:t>comprimé</a:t>
            </a:r>
            <a:r>
              <a:rPr lang="en-US" altLang="en-US" sz="1200" dirty="0">
                <a:latin typeface="Arial" panose="020B0604020202020204" pitchFamily="34" charset="0"/>
              </a:rPr>
              <a:t> les primes de </a:t>
            </a:r>
            <a:r>
              <a:rPr lang="en-US" altLang="en-US" sz="1200" dirty="0" err="1">
                <a:latin typeface="Arial" panose="020B0604020202020204" pitchFamily="34" charset="0"/>
              </a:rPr>
              <a:t>risque</a:t>
            </a:r>
            <a:r>
              <a:rPr lang="en-US" altLang="en-US" sz="1200" dirty="0">
                <a:latin typeface="Arial" panose="020B0604020202020204" pitchFamily="34" charset="0"/>
              </a:rPr>
              <a:t>, </a:t>
            </a:r>
            <a:r>
              <a:rPr lang="en-US" altLang="en-US" sz="1200" dirty="0" err="1">
                <a:latin typeface="Arial" panose="020B0604020202020204" pitchFamily="34" charset="0"/>
              </a:rPr>
              <a:t>soutenant</a:t>
            </a:r>
            <a:r>
              <a:rPr lang="en-US" altLang="en-US" sz="1200" dirty="0">
                <a:latin typeface="Arial" panose="020B0604020202020204" pitchFamily="34" charset="0"/>
              </a:rPr>
              <a:t> </a:t>
            </a:r>
            <a:r>
              <a:rPr lang="en-US" altLang="en-US" sz="1200" dirty="0" err="1">
                <a:latin typeface="Arial" panose="020B0604020202020204" pitchFamily="34" charset="0"/>
              </a:rPr>
              <a:t>durablement</a:t>
            </a:r>
            <a:r>
              <a:rPr lang="en-US" altLang="en-US" sz="1200" dirty="0">
                <a:latin typeface="Arial" panose="020B0604020202020204" pitchFamily="34" charset="0"/>
              </a:rPr>
              <a:t> les multiples de </a:t>
            </a:r>
            <a:r>
              <a:rPr lang="en-US" altLang="en-US" sz="1200" dirty="0" err="1">
                <a:latin typeface="Arial" panose="020B0604020202020204" pitchFamily="34" charset="0"/>
              </a:rPr>
              <a:t>valorisation</a:t>
            </a:r>
            <a:r>
              <a:rPr lang="en-US" altLang="en-US" sz="1200" dirty="0">
                <a:latin typeface="Arial" panose="020B0604020202020204" pitchFamily="34" charset="0"/>
              </a:rPr>
              <a:t> des actions.</a:t>
            </a:r>
          </a:p>
          <a:p>
            <a:pPr lvl="0" algn="l" eaLnBrk="0" fontAlgn="base" hangingPunct="0">
              <a:lnSpc>
                <a:spcPct val="100000"/>
              </a:lnSpc>
              <a:spcBef>
                <a:spcPct val="0"/>
              </a:spcBef>
              <a:spcAft>
                <a:spcPct val="0"/>
              </a:spcAft>
            </a:pPr>
            <a:endParaRPr lang="en-US" altLang="en-US" sz="1200" dirty="0">
              <a:latin typeface="Arial" panose="020B0604020202020204" pitchFamily="34" charset="0"/>
            </a:endParaRPr>
          </a:p>
          <a:p>
            <a:pPr lvl="0" algn="l" eaLnBrk="0" fontAlgn="base" hangingPunct="0">
              <a:lnSpc>
                <a:spcPct val="100000"/>
              </a:lnSpc>
              <a:spcBef>
                <a:spcPct val="0"/>
              </a:spcBef>
              <a:spcAft>
                <a:spcPct val="0"/>
              </a:spcAft>
              <a:buFontTx/>
              <a:buChar char="•"/>
            </a:pPr>
            <a:r>
              <a:rPr lang="en-US" altLang="en-US" sz="1200" b="1" dirty="0">
                <a:latin typeface="Arial" panose="020B0604020202020204" pitchFamily="34" charset="0"/>
              </a:rPr>
              <a:t> </a:t>
            </a:r>
            <a:r>
              <a:rPr lang="en-US" altLang="en-US" sz="1200" b="1" dirty="0" err="1">
                <a:latin typeface="Arial" panose="020B0604020202020204" pitchFamily="34" charset="0"/>
              </a:rPr>
              <a:t>Numérisation</a:t>
            </a:r>
            <a:r>
              <a:rPr lang="en-US" altLang="en-US" sz="1200" b="1" dirty="0">
                <a:latin typeface="Arial" panose="020B0604020202020204" pitchFamily="34" charset="0"/>
              </a:rPr>
              <a:t> de </a:t>
            </a:r>
            <a:r>
              <a:rPr lang="en-US" altLang="en-US" sz="1200" b="1" dirty="0" err="1">
                <a:latin typeface="Arial" panose="020B0604020202020204" pitchFamily="34" charset="0"/>
              </a:rPr>
              <a:t>l’économie</a:t>
            </a:r>
            <a:r>
              <a:rPr lang="en-US" altLang="en-US" sz="1200" dirty="0">
                <a:latin typeface="Arial" panose="020B0604020202020204" pitchFamily="34" charset="0"/>
              </a:rPr>
              <a:t> - La transition vers </a:t>
            </a:r>
            <a:r>
              <a:rPr lang="en-US" altLang="en-US" sz="1200" dirty="0" err="1">
                <a:latin typeface="Arial" panose="020B0604020202020204" pitchFamily="34" charset="0"/>
              </a:rPr>
              <a:t>une</a:t>
            </a:r>
            <a:r>
              <a:rPr lang="en-US" altLang="en-US" sz="1200" dirty="0">
                <a:latin typeface="Arial" panose="020B0604020202020204" pitchFamily="34" charset="0"/>
              </a:rPr>
              <a:t> </a:t>
            </a:r>
            <a:r>
              <a:rPr lang="en-US" altLang="en-US" sz="1200" dirty="0" err="1">
                <a:latin typeface="Arial" panose="020B0604020202020204" pitchFamily="34" charset="0"/>
              </a:rPr>
              <a:t>économie</a:t>
            </a:r>
            <a:r>
              <a:rPr lang="en-US" altLang="en-US" sz="1200" dirty="0">
                <a:latin typeface="Arial" panose="020B0604020202020204" pitchFamily="34" charset="0"/>
              </a:rPr>
              <a:t> </a:t>
            </a:r>
            <a:r>
              <a:rPr lang="en-US" altLang="en-US" sz="1200" dirty="0" err="1">
                <a:latin typeface="Arial" panose="020B0604020202020204" pitchFamily="34" charset="0"/>
              </a:rPr>
              <a:t>fondée</a:t>
            </a:r>
            <a:r>
              <a:rPr lang="en-US" altLang="en-US" sz="1200" dirty="0">
                <a:latin typeface="Arial" panose="020B0604020202020204" pitchFamily="34" charset="0"/>
              </a:rPr>
              <a:t> sur les services </a:t>
            </a:r>
            <a:r>
              <a:rPr lang="en-US" altLang="en-US" sz="1200" dirty="0" err="1">
                <a:latin typeface="Arial" panose="020B0604020202020204" pitchFamily="34" charset="0"/>
              </a:rPr>
              <a:t>numériques</a:t>
            </a:r>
            <a:r>
              <a:rPr lang="en-US" altLang="en-US" sz="1200" dirty="0">
                <a:latin typeface="Arial" panose="020B0604020202020204" pitchFamily="34" charset="0"/>
              </a:rPr>
              <a:t>, le cloud et les </a:t>
            </a:r>
            <a:r>
              <a:rPr lang="en-US" altLang="en-US" sz="1200" dirty="0" err="1">
                <a:latin typeface="Arial" panose="020B0604020202020204" pitchFamily="34" charset="0"/>
              </a:rPr>
              <a:t>plateformes</a:t>
            </a:r>
            <a:r>
              <a:rPr lang="en-US" altLang="en-US" sz="1200" dirty="0">
                <a:latin typeface="Arial" panose="020B0604020202020204" pitchFamily="34" charset="0"/>
              </a:rPr>
              <a:t> à forte </a:t>
            </a:r>
            <a:r>
              <a:rPr lang="en-US" altLang="en-US" sz="1200" dirty="0" err="1">
                <a:latin typeface="Arial" panose="020B0604020202020204" pitchFamily="34" charset="0"/>
              </a:rPr>
              <a:t>intensité</a:t>
            </a:r>
            <a:r>
              <a:rPr lang="en-US" altLang="en-US" sz="1200" dirty="0">
                <a:latin typeface="Arial" panose="020B0604020202020204" pitchFamily="34" charset="0"/>
              </a:rPr>
              <a:t> </a:t>
            </a:r>
            <a:r>
              <a:rPr lang="en-US" altLang="en-US" sz="1200" dirty="0" err="1">
                <a:latin typeface="Arial" panose="020B0604020202020204" pitchFamily="34" charset="0"/>
              </a:rPr>
              <a:t>capitalistique</a:t>
            </a:r>
            <a:r>
              <a:rPr lang="en-US" altLang="en-US" sz="1200" dirty="0">
                <a:latin typeface="Arial" panose="020B0604020202020204" pitchFamily="34" charset="0"/>
              </a:rPr>
              <a:t> a </a:t>
            </a:r>
            <a:r>
              <a:rPr lang="en-US" altLang="en-US" sz="1200" dirty="0" err="1">
                <a:latin typeface="Arial" panose="020B0604020202020204" pitchFamily="34" charset="0"/>
              </a:rPr>
              <a:t>déplacé</a:t>
            </a:r>
            <a:r>
              <a:rPr lang="en-US" altLang="en-US" sz="1200" dirty="0">
                <a:latin typeface="Arial" panose="020B0604020202020204" pitchFamily="34" charset="0"/>
              </a:rPr>
              <a:t> la </a:t>
            </a:r>
            <a:r>
              <a:rPr lang="en-US" altLang="en-US" sz="1200" dirty="0" err="1">
                <a:latin typeface="Arial" panose="020B0604020202020204" pitchFamily="34" charset="0"/>
              </a:rPr>
              <a:t>création</a:t>
            </a:r>
            <a:r>
              <a:rPr lang="en-US" altLang="en-US" sz="1200" dirty="0">
                <a:latin typeface="Arial" panose="020B0604020202020204" pitchFamily="34" charset="0"/>
              </a:rPr>
              <a:t> de </a:t>
            </a:r>
            <a:r>
              <a:rPr lang="en-US" altLang="en-US" sz="1200" dirty="0" err="1">
                <a:latin typeface="Arial" panose="020B0604020202020204" pitchFamily="34" charset="0"/>
              </a:rPr>
              <a:t>valeur</a:t>
            </a:r>
            <a:r>
              <a:rPr lang="en-US" altLang="en-US" sz="1200" dirty="0">
                <a:latin typeface="Arial" panose="020B0604020202020204" pitchFamily="34" charset="0"/>
              </a:rPr>
              <a:t> vers des </a:t>
            </a:r>
            <a:r>
              <a:rPr lang="en-US" altLang="en-US" sz="1200" dirty="0" err="1">
                <a:latin typeface="Arial" panose="020B0604020202020204" pitchFamily="34" charset="0"/>
              </a:rPr>
              <a:t>entreprises</a:t>
            </a:r>
            <a:r>
              <a:rPr lang="en-US" altLang="en-US" sz="1200" dirty="0">
                <a:latin typeface="Arial" panose="020B0604020202020204" pitchFamily="34" charset="0"/>
              </a:rPr>
              <a:t> à </a:t>
            </a:r>
            <a:r>
              <a:rPr lang="en-US" altLang="en-US" sz="1200" dirty="0" err="1">
                <a:latin typeface="Arial" panose="020B0604020202020204" pitchFamily="34" charset="0"/>
              </a:rPr>
              <a:t>marges</a:t>
            </a:r>
            <a:r>
              <a:rPr lang="en-US" altLang="en-US" sz="1200" dirty="0">
                <a:latin typeface="Arial" panose="020B0604020202020204" pitchFamily="34" charset="0"/>
              </a:rPr>
              <a:t> </a:t>
            </a:r>
            <a:r>
              <a:rPr lang="en-US" altLang="en-US" sz="1200" dirty="0" err="1">
                <a:latin typeface="Arial" panose="020B0604020202020204" pitchFamily="34" charset="0"/>
              </a:rPr>
              <a:t>élevées</a:t>
            </a:r>
            <a:r>
              <a:rPr lang="en-US" altLang="en-US" sz="1200" dirty="0">
                <a:latin typeface="Arial" panose="020B0604020202020204" pitchFamily="34" charset="0"/>
              </a:rPr>
              <a:t> et à flux de </a:t>
            </a:r>
            <a:r>
              <a:rPr lang="en-US" altLang="en-US" sz="1200" dirty="0" err="1">
                <a:latin typeface="Arial" panose="020B0604020202020204" pitchFamily="34" charset="0"/>
              </a:rPr>
              <a:t>trésorerie</a:t>
            </a:r>
            <a:r>
              <a:rPr lang="en-US" altLang="en-US" sz="1200" dirty="0">
                <a:latin typeface="Arial" panose="020B0604020202020204" pitchFamily="34" charset="0"/>
              </a:rPr>
              <a:t> </a:t>
            </a:r>
            <a:r>
              <a:rPr lang="en-US" altLang="en-US" sz="1200" dirty="0" err="1">
                <a:latin typeface="Arial" panose="020B0604020202020204" pitchFamily="34" charset="0"/>
              </a:rPr>
              <a:t>récurrents</a:t>
            </a:r>
            <a:r>
              <a:rPr lang="en-US" altLang="en-US" sz="1200" dirty="0">
                <a:latin typeface="Arial" panose="020B0604020202020204" pitchFamily="34" charset="0"/>
              </a:rPr>
              <a:t>.</a:t>
            </a:r>
          </a:p>
          <a:p>
            <a:pPr lvl="0" algn="l" eaLnBrk="0" fontAlgn="base" hangingPunct="0">
              <a:lnSpc>
                <a:spcPct val="100000"/>
              </a:lnSpc>
              <a:spcBef>
                <a:spcPct val="0"/>
              </a:spcBef>
              <a:spcAft>
                <a:spcPct val="0"/>
              </a:spcAft>
            </a:pPr>
            <a:endParaRPr lang="en-US" altLang="en-US" sz="1200" dirty="0">
              <a:latin typeface="Arial" panose="020B0604020202020204" pitchFamily="34" charset="0"/>
            </a:endParaRPr>
          </a:p>
          <a:p>
            <a:pPr lvl="0" algn="l" eaLnBrk="0" fontAlgn="base" hangingPunct="0">
              <a:lnSpc>
                <a:spcPct val="100000"/>
              </a:lnSpc>
              <a:spcBef>
                <a:spcPct val="0"/>
              </a:spcBef>
              <a:spcAft>
                <a:spcPct val="0"/>
              </a:spcAft>
              <a:buFontTx/>
              <a:buChar char="•"/>
            </a:pPr>
            <a:r>
              <a:rPr lang="en-US" altLang="en-US" sz="1200" b="1" dirty="0">
                <a:latin typeface="Arial" panose="020B0604020202020204" pitchFamily="34" charset="0"/>
              </a:rPr>
              <a:t> Chocs </a:t>
            </a:r>
            <a:r>
              <a:rPr lang="en-US" altLang="en-US" sz="1200" b="1" dirty="0" err="1">
                <a:latin typeface="Arial" panose="020B0604020202020204" pitchFamily="34" charset="0"/>
              </a:rPr>
              <a:t>exogènes</a:t>
            </a:r>
            <a:r>
              <a:rPr lang="en-US" altLang="en-US" sz="1200" b="1" dirty="0">
                <a:latin typeface="Arial" panose="020B0604020202020204" pitchFamily="34" charset="0"/>
              </a:rPr>
              <a:t> </a:t>
            </a:r>
            <a:r>
              <a:rPr lang="en-US" altLang="en-US" sz="1200" b="1" dirty="0" err="1">
                <a:latin typeface="Arial" panose="020B0604020202020204" pitchFamily="34" charset="0"/>
              </a:rPr>
              <a:t>récents</a:t>
            </a:r>
            <a:r>
              <a:rPr lang="en-US" altLang="en-US" sz="1200" dirty="0">
                <a:latin typeface="Arial" panose="020B0604020202020204" pitchFamily="34" charset="0"/>
              </a:rPr>
              <a:t> - Les </a:t>
            </a:r>
            <a:r>
              <a:rPr lang="en-US" altLang="en-US" sz="1200" dirty="0" err="1">
                <a:latin typeface="Arial" panose="020B0604020202020204" pitchFamily="34" charset="0"/>
              </a:rPr>
              <a:t>épisodes</a:t>
            </a:r>
            <a:r>
              <a:rPr lang="en-US" altLang="en-US" sz="1200" dirty="0">
                <a:latin typeface="Arial" panose="020B0604020202020204" pitchFamily="34" charset="0"/>
              </a:rPr>
              <a:t> de stress </a:t>
            </a:r>
            <a:r>
              <a:rPr lang="en-US" altLang="en-US" sz="1200" dirty="0" err="1">
                <a:latin typeface="Arial" panose="020B0604020202020204" pitchFamily="34" charset="0"/>
              </a:rPr>
              <a:t>liés</a:t>
            </a:r>
            <a:r>
              <a:rPr lang="en-US" altLang="en-US" sz="1200" dirty="0">
                <a:latin typeface="Arial" panose="020B0604020202020204" pitchFamily="34" charset="0"/>
              </a:rPr>
              <a:t> au COVID-19, au retour de </a:t>
            </a:r>
            <a:r>
              <a:rPr lang="en-US" altLang="en-US" sz="1200" dirty="0" err="1">
                <a:latin typeface="Arial" panose="020B0604020202020204" pitchFamily="34" charset="0"/>
              </a:rPr>
              <a:t>l’inflation</a:t>
            </a:r>
            <a:r>
              <a:rPr lang="en-US" altLang="en-US" sz="1200" dirty="0">
                <a:latin typeface="Arial" panose="020B0604020202020204" pitchFamily="34" charset="0"/>
              </a:rPr>
              <a:t> et à </a:t>
            </a:r>
            <a:r>
              <a:rPr lang="en-US" altLang="en-US" sz="1200" dirty="0" err="1">
                <a:latin typeface="Arial" panose="020B0604020202020204" pitchFamily="34" charset="0"/>
              </a:rPr>
              <a:t>l’essor</a:t>
            </a:r>
            <a:r>
              <a:rPr lang="en-US" altLang="en-US" sz="1200" dirty="0">
                <a:latin typeface="Arial" panose="020B0604020202020204" pitchFamily="34" charset="0"/>
              </a:rPr>
              <a:t> </a:t>
            </a:r>
            <a:r>
              <a:rPr lang="en-US" altLang="en-US" sz="1200" dirty="0" err="1">
                <a:latin typeface="Arial" panose="020B0604020202020204" pitchFamily="34" charset="0"/>
              </a:rPr>
              <a:t>rapide</a:t>
            </a:r>
            <a:r>
              <a:rPr lang="en-US" altLang="en-US" sz="1200" dirty="0">
                <a:latin typeface="Arial" panose="020B0604020202020204" pitchFamily="34" charset="0"/>
              </a:rPr>
              <a:t> de </a:t>
            </a:r>
            <a:r>
              <a:rPr lang="en-US" altLang="en-US" sz="1200" dirty="0" err="1">
                <a:latin typeface="Arial" panose="020B0604020202020204" pitchFamily="34" charset="0"/>
              </a:rPr>
              <a:t>l’IA</a:t>
            </a:r>
            <a:r>
              <a:rPr lang="en-US" altLang="en-US" sz="1200" dirty="0">
                <a:latin typeface="Arial" panose="020B0604020202020204" pitchFamily="34" charset="0"/>
              </a:rPr>
              <a:t> </a:t>
            </a:r>
            <a:r>
              <a:rPr lang="en-US" altLang="en-US" sz="1200" dirty="0" err="1">
                <a:latin typeface="Arial" panose="020B0604020202020204" pitchFamily="34" charset="0"/>
              </a:rPr>
              <a:t>ont</a:t>
            </a:r>
            <a:r>
              <a:rPr lang="en-US" altLang="en-US" sz="1200" dirty="0">
                <a:latin typeface="Arial" panose="020B0604020202020204" pitchFamily="34" charset="0"/>
              </a:rPr>
              <a:t> </a:t>
            </a:r>
            <a:r>
              <a:rPr lang="en-US" altLang="en-US" sz="1200" dirty="0" err="1">
                <a:latin typeface="Arial" panose="020B0604020202020204" pitchFamily="34" charset="0"/>
              </a:rPr>
              <a:t>renforcé</a:t>
            </a:r>
            <a:r>
              <a:rPr lang="en-US" altLang="en-US" sz="1200" dirty="0">
                <a:latin typeface="Arial" panose="020B0604020202020204" pitchFamily="34" charset="0"/>
              </a:rPr>
              <a:t> la </a:t>
            </a:r>
            <a:r>
              <a:rPr lang="en-US" altLang="en-US" sz="1200" dirty="0" err="1">
                <a:latin typeface="Arial" panose="020B0604020202020204" pitchFamily="34" charset="0"/>
              </a:rPr>
              <a:t>polarisation</a:t>
            </a:r>
            <a:r>
              <a:rPr lang="en-US" altLang="en-US" sz="1200" dirty="0">
                <a:latin typeface="Arial" panose="020B0604020202020204" pitchFamily="34" charset="0"/>
              </a:rPr>
              <a:t> </a:t>
            </a:r>
            <a:r>
              <a:rPr lang="en-US" altLang="en-US" sz="1200" dirty="0" err="1">
                <a:latin typeface="Arial" panose="020B0604020202020204" pitchFamily="34" charset="0"/>
              </a:rPr>
              <a:t>sectorielle</a:t>
            </a:r>
            <a:r>
              <a:rPr lang="en-US" altLang="en-US" sz="1200" dirty="0">
                <a:latin typeface="Arial" panose="020B0604020202020204" pitchFamily="34" charset="0"/>
              </a:rPr>
              <a:t> du </a:t>
            </a:r>
            <a:r>
              <a:rPr lang="en-US" altLang="en-US" sz="1200" dirty="0" err="1">
                <a:latin typeface="Arial" panose="020B0604020202020204" pitchFamily="34" charset="0"/>
              </a:rPr>
              <a:t>marché</a:t>
            </a:r>
            <a:r>
              <a:rPr lang="en-US" altLang="en-US" sz="1200" dirty="0">
                <a:latin typeface="Arial" panose="020B0604020202020204" pitchFamily="34" charset="0"/>
              </a:rPr>
              <a:t> </a:t>
            </a:r>
            <a:r>
              <a:rPr lang="en-US" altLang="en-US" sz="1200" dirty="0" err="1">
                <a:latin typeface="Arial" panose="020B0604020202020204" pitchFamily="34" charset="0"/>
              </a:rPr>
              <a:t>en</a:t>
            </a:r>
            <a:r>
              <a:rPr lang="en-US" altLang="en-US" sz="1200" dirty="0">
                <a:latin typeface="Arial" panose="020B0604020202020204" pitchFamily="34" charset="0"/>
              </a:rPr>
              <a:t> </a:t>
            </a:r>
            <a:r>
              <a:rPr lang="en-US" altLang="en-US" sz="1200" dirty="0" err="1">
                <a:latin typeface="Arial" panose="020B0604020202020204" pitchFamily="34" charset="0"/>
              </a:rPr>
              <a:t>faveur</a:t>
            </a:r>
            <a:r>
              <a:rPr lang="en-US" altLang="en-US" sz="1200" dirty="0">
                <a:latin typeface="Arial" panose="020B0604020202020204" pitchFamily="34" charset="0"/>
              </a:rPr>
              <a:t> des </a:t>
            </a:r>
            <a:r>
              <a:rPr lang="en-US" altLang="en-US" sz="1200" dirty="0" err="1">
                <a:latin typeface="Arial" panose="020B0604020202020204" pitchFamily="34" charset="0"/>
              </a:rPr>
              <a:t>acteurs</a:t>
            </a:r>
            <a:r>
              <a:rPr lang="en-US" altLang="en-US" sz="1200" dirty="0">
                <a:latin typeface="Arial" panose="020B0604020202020204" pitchFamily="34" charset="0"/>
              </a:rPr>
              <a:t> </a:t>
            </a:r>
            <a:r>
              <a:rPr lang="en-US" altLang="en-US" sz="1200" dirty="0" err="1">
                <a:latin typeface="Arial" panose="020B0604020202020204" pitchFamily="34" charset="0"/>
              </a:rPr>
              <a:t>capables</a:t>
            </a:r>
            <a:r>
              <a:rPr lang="en-US" altLang="en-US" sz="1200" dirty="0">
                <a:latin typeface="Arial" panose="020B0604020202020204" pitchFamily="34" charset="0"/>
              </a:rPr>
              <a:t> </a:t>
            </a:r>
            <a:r>
              <a:rPr lang="en-US" altLang="en-US" sz="1200" dirty="0" err="1">
                <a:latin typeface="Arial" panose="020B0604020202020204" pitchFamily="34" charset="0"/>
              </a:rPr>
              <a:t>d’absorber</a:t>
            </a:r>
            <a:r>
              <a:rPr lang="en-US" altLang="en-US" sz="1200" dirty="0">
                <a:latin typeface="Arial" panose="020B0604020202020204" pitchFamily="34" charset="0"/>
              </a:rPr>
              <a:t> la </a:t>
            </a:r>
            <a:r>
              <a:rPr lang="en-US" altLang="en-US" sz="1200" dirty="0" err="1">
                <a:latin typeface="Arial" panose="020B0604020202020204" pitchFamily="34" charset="0"/>
              </a:rPr>
              <a:t>volatilité</a:t>
            </a:r>
            <a:r>
              <a:rPr lang="en-US" altLang="en-US" sz="1200" dirty="0">
                <a:latin typeface="Arial" panose="020B0604020202020204" pitchFamily="34" charset="0"/>
              </a:rPr>
              <a:t> </a:t>
            </a:r>
            <a:r>
              <a:rPr lang="en-US" altLang="en-US" sz="1200" dirty="0" err="1">
                <a:latin typeface="Arial" panose="020B0604020202020204" pitchFamily="34" charset="0"/>
              </a:rPr>
              <a:t>macroéconomique</a:t>
            </a:r>
            <a:r>
              <a:rPr lang="en-US" altLang="en-US" sz="1200" dirty="0">
                <a:latin typeface="Arial" panose="020B0604020202020204" pitchFamily="34" charset="0"/>
              </a:rPr>
              <a:t>.</a:t>
            </a:r>
          </a:p>
          <a:p>
            <a:pPr lvl="0" algn="l" eaLnBrk="0" fontAlgn="base" hangingPunct="0">
              <a:lnSpc>
                <a:spcPct val="100000"/>
              </a:lnSpc>
              <a:spcBef>
                <a:spcPct val="0"/>
              </a:spcBef>
              <a:spcAft>
                <a:spcPct val="0"/>
              </a:spcAft>
            </a:pPr>
            <a:endParaRPr lang="en-US" altLang="en-US" sz="1200" dirty="0">
              <a:latin typeface="Arial" panose="020B0604020202020204" pitchFamily="34" charset="0"/>
            </a:endParaRPr>
          </a:p>
          <a:p>
            <a:pPr lvl="0" algn="l" eaLnBrk="0" fontAlgn="base" hangingPunct="0">
              <a:lnSpc>
                <a:spcPct val="100000"/>
              </a:lnSpc>
              <a:spcBef>
                <a:spcPct val="0"/>
              </a:spcBef>
              <a:spcAft>
                <a:spcPct val="0"/>
              </a:spcAft>
              <a:buFontTx/>
              <a:buChar char="•"/>
            </a:pPr>
            <a:r>
              <a:rPr lang="en-US" altLang="en-US" sz="1200" b="1" dirty="0">
                <a:latin typeface="Arial" panose="020B0604020202020204" pitchFamily="34" charset="0"/>
              </a:rPr>
              <a:t> </a:t>
            </a:r>
            <a:r>
              <a:rPr lang="en-US" altLang="en-US" sz="1200" b="1" dirty="0" err="1">
                <a:latin typeface="Arial" panose="020B0604020202020204" pitchFamily="34" charset="0"/>
              </a:rPr>
              <a:t>Rôle</a:t>
            </a:r>
            <a:r>
              <a:rPr lang="en-US" altLang="en-US" sz="1200" b="1" dirty="0">
                <a:latin typeface="Arial" panose="020B0604020202020204" pitchFamily="34" charset="0"/>
              </a:rPr>
              <a:t> </a:t>
            </a:r>
            <a:r>
              <a:rPr lang="en-US" altLang="en-US" sz="1200" b="1" dirty="0" err="1">
                <a:latin typeface="Arial" panose="020B0604020202020204" pitchFamily="34" charset="0"/>
              </a:rPr>
              <a:t>structurel</a:t>
            </a:r>
            <a:r>
              <a:rPr lang="en-US" altLang="en-US" sz="1200" b="1" dirty="0">
                <a:latin typeface="Arial" panose="020B0604020202020204" pitchFamily="34" charset="0"/>
              </a:rPr>
              <a:t> du Dow Jones</a:t>
            </a:r>
            <a:r>
              <a:rPr lang="en-US" altLang="en-US" sz="1200" dirty="0">
                <a:latin typeface="Arial" panose="020B0604020202020204" pitchFamily="34" charset="0"/>
              </a:rPr>
              <a:t> - Malgré </a:t>
            </a:r>
            <a:r>
              <a:rPr lang="en-US" altLang="en-US" sz="1200" dirty="0" err="1">
                <a:latin typeface="Arial" panose="020B0604020202020204" pitchFamily="34" charset="0"/>
              </a:rPr>
              <a:t>sa</a:t>
            </a:r>
            <a:r>
              <a:rPr lang="en-US" altLang="en-US" sz="1200" dirty="0">
                <a:latin typeface="Arial" panose="020B0604020202020204" pitchFamily="34" charset="0"/>
              </a:rPr>
              <a:t> </a:t>
            </a:r>
            <a:r>
              <a:rPr lang="en-US" altLang="en-US" sz="1200" dirty="0" err="1">
                <a:latin typeface="Arial" panose="020B0604020202020204" pitchFamily="34" charset="0"/>
              </a:rPr>
              <a:t>méthodologie</a:t>
            </a:r>
            <a:r>
              <a:rPr lang="en-US" altLang="en-US" sz="1200" dirty="0">
                <a:latin typeface="Arial" panose="020B0604020202020204" pitchFamily="34" charset="0"/>
              </a:rPr>
              <a:t> </a:t>
            </a:r>
            <a:r>
              <a:rPr lang="en-US" altLang="en-US" sz="1200" dirty="0" err="1">
                <a:latin typeface="Arial" panose="020B0604020202020204" pitchFamily="34" charset="0"/>
              </a:rPr>
              <a:t>traditionnelle</a:t>
            </a:r>
            <a:r>
              <a:rPr lang="en-US" altLang="en-US" sz="1200" dirty="0">
                <a:latin typeface="Arial" panose="020B0604020202020204" pitchFamily="34" charset="0"/>
              </a:rPr>
              <a:t>, le Dow Jones </a:t>
            </a:r>
            <a:r>
              <a:rPr lang="en-US" altLang="en-US" sz="1200" dirty="0" err="1">
                <a:latin typeface="Arial" panose="020B0604020202020204" pitchFamily="34" charset="0"/>
              </a:rPr>
              <a:t>s’est</a:t>
            </a:r>
            <a:r>
              <a:rPr lang="en-US" altLang="en-US" sz="1200" dirty="0">
                <a:latin typeface="Arial" panose="020B0604020202020204" pitchFamily="34" charset="0"/>
              </a:rPr>
              <a:t> </a:t>
            </a:r>
            <a:r>
              <a:rPr lang="en-US" altLang="en-US" sz="1200" dirty="0" err="1">
                <a:latin typeface="Arial" panose="020B0604020202020204" pitchFamily="34" charset="0"/>
              </a:rPr>
              <a:t>imposé</a:t>
            </a:r>
            <a:r>
              <a:rPr lang="en-US" altLang="en-US" sz="1200" dirty="0">
                <a:latin typeface="Arial" panose="020B0604020202020204" pitchFamily="34" charset="0"/>
              </a:rPr>
              <a:t> </a:t>
            </a:r>
            <a:r>
              <a:rPr lang="en-US" altLang="en-US" sz="1200" dirty="0" err="1">
                <a:latin typeface="Arial" panose="020B0604020202020204" pitchFamily="34" charset="0"/>
              </a:rPr>
              <a:t>comme</a:t>
            </a:r>
            <a:r>
              <a:rPr lang="en-US" altLang="en-US" sz="1200" dirty="0">
                <a:latin typeface="Arial" panose="020B0604020202020204" pitchFamily="34" charset="0"/>
              </a:rPr>
              <a:t> un </a:t>
            </a:r>
            <a:r>
              <a:rPr lang="en-US" altLang="en-US" sz="1200" dirty="0" err="1">
                <a:latin typeface="Arial" panose="020B0604020202020204" pitchFamily="34" charset="0"/>
              </a:rPr>
              <a:t>indicateur</a:t>
            </a:r>
            <a:r>
              <a:rPr lang="en-US" altLang="en-US" sz="1200" dirty="0">
                <a:latin typeface="Arial" panose="020B0604020202020204" pitchFamily="34" charset="0"/>
              </a:rPr>
              <a:t> </a:t>
            </a:r>
            <a:r>
              <a:rPr lang="en-US" altLang="en-US" sz="1200" dirty="0" err="1">
                <a:latin typeface="Arial" panose="020B0604020202020204" pitchFamily="34" charset="0"/>
              </a:rPr>
              <a:t>synthétique</a:t>
            </a:r>
            <a:r>
              <a:rPr lang="en-US" altLang="en-US" sz="1200" dirty="0">
                <a:latin typeface="Arial" panose="020B0604020202020204" pitchFamily="34" charset="0"/>
              </a:rPr>
              <a:t> de la </a:t>
            </a:r>
            <a:r>
              <a:rPr lang="en-US" altLang="en-US" sz="1200" dirty="0" err="1">
                <a:latin typeface="Arial" panose="020B0604020202020204" pitchFamily="34" charset="0"/>
              </a:rPr>
              <a:t>capacité</a:t>
            </a:r>
            <a:r>
              <a:rPr lang="en-US" altLang="en-US" sz="1200" dirty="0">
                <a:latin typeface="Arial" panose="020B0604020202020204" pitchFamily="34" charset="0"/>
              </a:rPr>
              <a:t> </a:t>
            </a:r>
            <a:r>
              <a:rPr lang="en-US" altLang="en-US" sz="1200" dirty="0" err="1">
                <a:latin typeface="Arial" panose="020B0604020202020204" pitchFamily="34" charset="0"/>
              </a:rPr>
              <a:t>d’adaptation</a:t>
            </a:r>
            <a:r>
              <a:rPr lang="en-US" altLang="en-US" sz="1200" dirty="0">
                <a:latin typeface="Arial" panose="020B0604020202020204" pitchFamily="34" charset="0"/>
              </a:rPr>
              <a:t> du </a:t>
            </a:r>
            <a:r>
              <a:rPr lang="en-US" altLang="en-US" sz="1200" dirty="0" err="1">
                <a:latin typeface="Arial" panose="020B0604020202020204" pitchFamily="34" charset="0"/>
              </a:rPr>
              <a:t>capitalisme</a:t>
            </a:r>
            <a:r>
              <a:rPr lang="en-US" altLang="en-US" sz="1200" dirty="0">
                <a:latin typeface="Arial" panose="020B0604020202020204" pitchFamily="34" charset="0"/>
              </a:rPr>
              <a:t> </a:t>
            </a:r>
            <a:r>
              <a:rPr lang="en-US" altLang="en-US" sz="1200" dirty="0" err="1">
                <a:latin typeface="Arial" panose="020B0604020202020204" pitchFamily="34" charset="0"/>
              </a:rPr>
              <a:t>américain</a:t>
            </a:r>
            <a:r>
              <a:rPr lang="en-US" altLang="en-US" sz="1200" dirty="0">
                <a:latin typeface="Arial" panose="020B0604020202020204" pitchFamily="34" charset="0"/>
              </a:rPr>
              <a:t> aux mutations </a:t>
            </a:r>
            <a:r>
              <a:rPr lang="en-US" altLang="en-US" sz="1200" dirty="0" err="1">
                <a:latin typeface="Arial" panose="020B0604020202020204" pitchFamily="34" charset="0"/>
              </a:rPr>
              <a:t>technologiques</a:t>
            </a:r>
            <a:r>
              <a:rPr lang="en-US" altLang="en-US" sz="1200" dirty="0">
                <a:latin typeface="Arial" panose="020B0604020202020204" pitchFamily="34" charset="0"/>
              </a:rPr>
              <a:t> et </a:t>
            </a:r>
            <a:r>
              <a:rPr lang="en-US" altLang="en-US" sz="1200" dirty="0" err="1">
                <a:latin typeface="Arial" panose="020B0604020202020204" pitchFamily="34" charset="0"/>
              </a:rPr>
              <a:t>financières</a:t>
            </a:r>
            <a:r>
              <a:rPr lang="en-US" altLang="en-US" sz="1200" dirty="0">
                <a:latin typeface="Arial" panose="020B0604020202020204" pitchFamily="34" charset="0"/>
              </a:rPr>
              <a:t> de long </a:t>
            </a:r>
            <a:r>
              <a:rPr lang="en-US" altLang="en-US" sz="1200" dirty="0" err="1">
                <a:latin typeface="Arial" panose="020B0604020202020204" pitchFamily="34" charset="0"/>
              </a:rPr>
              <a:t>terme</a:t>
            </a:r>
            <a:r>
              <a:rPr lang="en-US" altLang="en-US" sz="1200" dirty="0">
                <a:latin typeface="Arial" panose="020B0604020202020204" pitchFamily="34" charset="0"/>
              </a:rPr>
              <a:t>.</a:t>
            </a:r>
          </a:p>
          <a:p>
            <a:pPr marL="0" marR="0" lvl="0" indent="0" algn="l" defTabSz="914400" rtl="0" eaLnBrk="0" fontAlgn="base" latinLnBrk="0" hangingPunct="0">
              <a:lnSpc>
                <a:spcPct val="100000"/>
              </a:lnSpc>
              <a:spcBef>
                <a:spcPct val="0"/>
              </a:spcBef>
              <a:spcAft>
                <a:spcPct val="0"/>
              </a:spcAft>
              <a:buClrTx/>
              <a:buSzTx/>
              <a:tabLst/>
            </a:pPr>
            <a:endParaRPr kumimoji="0" lang="en-US" altLang="en-US" sz="12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352729586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8EF2EA-C986-025D-C0C2-B03F3E8FD1A5}"/>
              </a:ext>
            </a:extLst>
          </p:cNvPr>
          <p:cNvSpPr>
            <a:spLocks noGrp="1"/>
          </p:cNvSpPr>
          <p:nvPr>
            <p:ph type="title"/>
          </p:nvPr>
        </p:nvSpPr>
        <p:spPr>
          <a:xfrm>
            <a:off x="334518" y="759375"/>
            <a:ext cx="10515600" cy="430403"/>
          </a:xfrm>
        </p:spPr>
        <p:txBody>
          <a:bodyPr>
            <a:normAutofit/>
          </a:bodyPr>
          <a:lstStyle/>
          <a:p>
            <a:r>
              <a:rPr lang="en-US" sz="1600" b="1" dirty="0" err="1">
                <a:latin typeface="Arial" panose="020B0604020202020204" pitchFamily="34" charset="0"/>
                <a:cs typeface="Arial" panose="020B0604020202020204" pitchFamily="34" charset="0"/>
              </a:rPr>
              <a:t>Partie</a:t>
            </a:r>
            <a:r>
              <a:rPr lang="en-US" sz="1600" b="1" dirty="0">
                <a:latin typeface="Arial" panose="020B0604020202020204" pitchFamily="34" charset="0"/>
                <a:cs typeface="Arial" panose="020B0604020202020204" pitchFamily="34" charset="0"/>
              </a:rPr>
              <a:t> 1 : </a:t>
            </a:r>
            <a:r>
              <a:rPr lang="fr-FR" sz="1600" b="1" dirty="0">
                <a:latin typeface="Arial" panose="020B0604020202020204" pitchFamily="34" charset="0"/>
                <a:cs typeface="Arial" panose="020B0604020202020204" pitchFamily="34" charset="0"/>
              </a:rPr>
              <a:t>Fondements et méthodologie du Dow Jones</a:t>
            </a:r>
            <a:endParaRPr lang="en-US" sz="1600" b="1" dirty="0">
              <a:latin typeface="Arial" panose="020B0604020202020204" pitchFamily="34" charset="0"/>
              <a:cs typeface="Arial" panose="020B0604020202020204" pitchFamily="34" charset="0"/>
            </a:endParaRPr>
          </a:p>
        </p:txBody>
      </p:sp>
      <p:sp>
        <p:nvSpPr>
          <p:cNvPr id="3" name="Content Placeholder 2">
            <a:extLst>
              <a:ext uri="{FF2B5EF4-FFF2-40B4-BE49-F238E27FC236}">
                <a16:creationId xmlns:a16="http://schemas.microsoft.com/office/drawing/2014/main" id="{504AB5D2-251F-6F9A-C364-2F431301F724}"/>
              </a:ext>
            </a:extLst>
          </p:cNvPr>
          <p:cNvSpPr>
            <a:spLocks noGrp="1"/>
          </p:cNvSpPr>
          <p:nvPr>
            <p:ph idx="1"/>
          </p:nvPr>
        </p:nvSpPr>
        <p:spPr>
          <a:xfrm>
            <a:off x="861060" y="1847624"/>
            <a:ext cx="5444490" cy="3423031"/>
          </a:xfrm>
        </p:spPr>
        <p:txBody>
          <a:bodyPr>
            <a:normAutofit/>
          </a:bodyPr>
          <a:lstStyle/>
          <a:p>
            <a:pPr marL="0" indent="0">
              <a:lnSpc>
                <a:spcPct val="150000"/>
              </a:lnSpc>
              <a:buNone/>
            </a:pPr>
            <a:r>
              <a:rPr lang="fr-FR" sz="1300" b="1" dirty="0">
                <a:latin typeface="Arial" panose="020B0604020202020204" pitchFamily="34" charset="0"/>
                <a:cs typeface="Arial" panose="020B0604020202020204" pitchFamily="34" charset="0"/>
              </a:rPr>
              <a:t>Fondements méthodologiques et périmètre de l’indice Dow Jones</a:t>
            </a:r>
          </a:p>
          <a:p>
            <a:pPr marL="0" indent="0">
              <a:buNone/>
            </a:pPr>
            <a:r>
              <a:rPr lang="fr-FR" sz="1200" b="1" dirty="0">
                <a:latin typeface="Arial" panose="020B0604020202020204" pitchFamily="34" charset="0"/>
                <a:cs typeface="Arial" panose="020B0604020202020204" pitchFamily="34" charset="0"/>
              </a:rPr>
              <a:t>DJIA - Définition &amp; mécanique de calcul</a:t>
            </a:r>
          </a:p>
          <a:p>
            <a:pPr marL="0" indent="0">
              <a:buNone/>
            </a:pPr>
            <a:r>
              <a:rPr lang="fr-FR" sz="1200" dirty="0">
                <a:latin typeface="Arial" panose="020B0604020202020204" pitchFamily="34" charset="0"/>
                <a:cs typeface="Arial" panose="020B0604020202020204" pitchFamily="34" charset="0"/>
              </a:rPr>
              <a:t>Indice « </a:t>
            </a:r>
            <a:r>
              <a:rPr lang="fr-FR" sz="1200" dirty="0" err="1">
                <a:latin typeface="Arial" panose="020B0604020202020204" pitchFamily="34" charset="0"/>
                <a:cs typeface="Arial" panose="020B0604020202020204" pitchFamily="34" charset="0"/>
              </a:rPr>
              <a:t>blue</a:t>
            </a:r>
            <a:r>
              <a:rPr lang="fr-FR" sz="1200" dirty="0">
                <a:latin typeface="Arial" panose="020B0604020202020204" pitchFamily="34" charset="0"/>
                <a:cs typeface="Arial" panose="020B0604020202020204" pitchFamily="34" charset="0"/>
              </a:rPr>
              <a:t>-chip » à 30 sociétés américaines, pondéré par les prix, où l’impact d’un titre dépend exclusivement de son cours nominal et non de sa capitalisation, induisant une sensibilité élevée aux actions à prix unitaire élevé.</a:t>
            </a:r>
          </a:p>
          <a:p>
            <a:pPr marL="0" indent="0">
              <a:buNone/>
            </a:pPr>
            <a:r>
              <a:rPr lang="fr-FR" sz="1200" b="1" dirty="0">
                <a:latin typeface="Arial" panose="020B0604020202020204" pitchFamily="34" charset="0"/>
                <a:cs typeface="Arial" panose="020B0604020202020204" pitchFamily="34" charset="0"/>
              </a:rPr>
              <a:t>DJIA - Structure technique</a:t>
            </a:r>
          </a:p>
          <a:p>
            <a:pPr marL="0" indent="0">
              <a:buNone/>
            </a:pPr>
            <a:r>
              <a:rPr lang="fr-FR" sz="1200" dirty="0">
                <a:latin typeface="Arial" panose="020B0604020202020204" pitchFamily="34" charset="0"/>
                <a:cs typeface="Arial" panose="020B0604020202020204" pitchFamily="34" charset="0"/>
              </a:rPr>
              <a:t>Continuité assurée par le Dow </a:t>
            </a:r>
            <a:r>
              <a:rPr lang="fr-FR" sz="1200" dirty="0" err="1">
                <a:latin typeface="Arial" panose="020B0604020202020204" pitchFamily="34" charset="0"/>
                <a:cs typeface="Arial" panose="020B0604020202020204" pitchFamily="34" charset="0"/>
              </a:rPr>
              <a:t>Divisor</a:t>
            </a:r>
            <a:r>
              <a:rPr lang="fr-FR" sz="1200" dirty="0">
                <a:latin typeface="Arial" panose="020B0604020202020204" pitchFamily="34" charset="0"/>
                <a:cs typeface="Arial" panose="020B0604020202020204" pitchFamily="34" charset="0"/>
              </a:rPr>
              <a:t> (≈0,1624 en 2025) : une variation de 1 USD sur un composant génère ~6,17 points d’indice, créant une volatilité idiosyncratique supérieure aux indices cap-</a:t>
            </a:r>
            <a:r>
              <a:rPr lang="fr-FR" sz="1200" dirty="0" err="1">
                <a:latin typeface="Arial" panose="020B0604020202020204" pitchFamily="34" charset="0"/>
                <a:cs typeface="Arial" panose="020B0604020202020204" pitchFamily="34" charset="0"/>
              </a:rPr>
              <a:t>weighted</a:t>
            </a:r>
            <a:r>
              <a:rPr lang="fr-FR" sz="1200" dirty="0">
                <a:latin typeface="Arial" panose="020B0604020202020204" pitchFamily="34" charset="0"/>
                <a:cs typeface="Arial" panose="020B0604020202020204" pitchFamily="34" charset="0"/>
              </a:rPr>
              <a:t>.</a:t>
            </a:r>
          </a:p>
          <a:p>
            <a:pPr marL="0" indent="0">
              <a:buNone/>
            </a:pPr>
            <a:r>
              <a:rPr lang="fr-FR" sz="1200" b="1" dirty="0">
                <a:latin typeface="Arial" panose="020B0604020202020204" pitchFamily="34" charset="0"/>
                <a:cs typeface="Arial" panose="020B0604020202020204" pitchFamily="34" charset="0"/>
              </a:rPr>
              <a:t>DJIA vs indices cap-</a:t>
            </a:r>
            <a:r>
              <a:rPr lang="fr-FR" sz="1200" b="1" dirty="0" err="1">
                <a:latin typeface="Arial" panose="020B0604020202020204" pitchFamily="34" charset="0"/>
                <a:cs typeface="Arial" panose="020B0604020202020204" pitchFamily="34" charset="0"/>
              </a:rPr>
              <a:t>weighted</a:t>
            </a:r>
            <a:endParaRPr lang="fr-FR" sz="1200" b="1" dirty="0">
              <a:latin typeface="Arial" panose="020B0604020202020204" pitchFamily="34" charset="0"/>
              <a:cs typeface="Arial" panose="020B0604020202020204" pitchFamily="34" charset="0"/>
            </a:endParaRPr>
          </a:p>
          <a:p>
            <a:pPr marL="0" indent="0">
              <a:buNone/>
            </a:pPr>
            <a:r>
              <a:rPr lang="fr-FR" sz="1200" dirty="0">
                <a:latin typeface="Arial" panose="020B0604020202020204" pitchFamily="34" charset="0"/>
                <a:cs typeface="Arial" panose="020B0604020202020204" pitchFamily="34" charset="0"/>
              </a:rPr>
              <a:t>Contrairement au S&amp;P 500, le DJIA privilégie la stabilité et la représentativité qualitative des grandes entreprises matures, au prix de biais statistiques limitant son usage en allocation factorielle quantitative.</a:t>
            </a:r>
          </a:p>
          <a:p>
            <a:pPr marL="0" indent="0">
              <a:lnSpc>
                <a:spcPct val="150000"/>
              </a:lnSpc>
              <a:buNone/>
            </a:pPr>
            <a:endParaRPr lang="en-US" sz="1600" dirty="0">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689BB117-C066-4C74-054B-436993209FFD}"/>
              </a:ext>
            </a:extLst>
          </p:cNvPr>
          <p:cNvSpPr>
            <a:spLocks noGrp="1"/>
          </p:cNvSpPr>
          <p:nvPr>
            <p:ph type="sldNum" sz="quarter" idx="12"/>
          </p:nvPr>
        </p:nvSpPr>
        <p:spPr/>
        <p:txBody>
          <a:bodyPr/>
          <a:lstStyle/>
          <a:p>
            <a:fld id="{C2BC48A5-4F43-4573-99E8-824F842D28E4}" type="slidenum">
              <a:rPr lang="en-US" smtClean="0"/>
              <a:t>2</a:t>
            </a:fld>
            <a:endParaRPr lang="en-US"/>
          </a:p>
        </p:txBody>
      </p:sp>
      <p:sp>
        <p:nvSpPr>
          <p:cNvPr id="8" name="TextBox 7">
            <a:extLst>
              <a:ext uri="{FF2B5EF4-FFF2-40B4-BE49-F238E27FC236}">
                <a16:creationId xmlns:a16="http://schemas.microsoft.com/office/drawing/2014/main" id="{C6E4E49A-A226-CCB9-AAF7-C5C6D72686AC}"/>
              </a:ext>
            </a:extLst>
          </p:cNvPr>
          <p:cNvSpPr txBox="1"/>
          <p:nvPr/>
        </p:nvSpPr>
        <p:spPr>
          <a:xfrm>
            <a:off x="6096000" y="287697"/>
            <a:ext cx="11745468" cy="507831"/>
          </a:xfrm>
          <a:prstGeom prst="rect">
            <a:avLst/>
          </a:prstGeom>
          <a:noFill/>
        </p:spPr>
        <p:txBody>
          <a:bodyPr wrap="square" rtlCol="0">
            <a:spAutoFit/>
          </a:bodyPr>
          <a:lstStyle/>
          <a:p>
            <a:r>
              <a:rPr lang="en-US" sz="900" dirty="0" err="1">
                <a:latin typeface="Arial" panose="020B0604020202020204" pitchFamily="34" charset="0"/>
                <a:cs typeface="Arial" panose="020B0604020202020204" pitchFamily="34" charset="0"/>
              </a:rPr>
              <a:t>Évolution</a:t>
            </a:r>
            <a:r>
              <a:rPr lang="en-US" sz="900" dirty="0">
                <a:latin typeface="Arial" panose="020B0604020202020204" pitchFamily="34" charset="0"/>
                <a:cs typeface="Arial" panose="020B0604020202020204" pitchFamily="34" charset="0"/>
              </a:rPr>
              <a:t> du </a:t>
            </a:r>
            <a:r>
              <a:rPr lang="en-US" sz="900" dirty="0" err="1">
                <a:latin typeface="Arial" panose="020B0604020202020204" pitchFamily="34" charset="0"/>
                <a:cs typeface="Arial" panose="020B0604020202020204" pitchFamily="34" charset="0"/>
              </a:rPr>
              <a:t>marché</a:t>
            </a:r>
            <a:r>
              <a:rPr lang="en-US" sz="900" dirty="0">
                <a:latin typeface="Arial" panose="020B0604020202020204" pitchFamily="34" charset="0"/>
                <a:cs typeface="Arial" panose="020B0604020202020204" pitchFamily="34" charset="0"/>
              </a:rPr>
              <a:t> des actions aux États-Unis </a:t>
            </a:r>
            <a:r>
              <a:rPr lang="en-US" sz="900" dirty="0" err="1">
                <a:latin typeface="Arial" panose="020B0604020202020204" pitchFamily="34" charset="0"/>
                <a:cs typeface="Arial" panose="020B0604020202020204" pitchFamily="34" charset="0"/>
              </a:rPr>
              <a:t>depuis</a:t>
            </a:r>
            <a:r>
              <a:rPr lang="en-US" sz="900" dirty="0">
                <a:latin typeface="Arial" panose="020B0604020202020204" pitchFamily="34" charset="0"/>
                <a:cs typeface="Arial" panose="020B0604020202020204" pitchFamily="34" charset="0"/>
              </a:rPr>
              <a:t> 2010 :                                                  </a:t>
            </a:r>
            <a:r>
              <a:rPr lang="en-US" sz="900" dirty="0" err="1">
                <a:latin typeface="Arial" panose="020B0604020202020204" pitchFamily="34" charset="0"/>
              </a:rPr>
              <a:t>Plotnykov</a:t>
            </a:r>
            <a:r>
              <a:rPr lang="en-US" sz="900" dirty="0">
                <a:latin typeface="Arial" panose="020B0604020202020204" pitchFamily="34" charset="0"/>
              </a:rPr>
              <a:t> Andrii</a:t>
            </a:r>
            <a:br>
              <a:rPr lang="en-US" sz="900" dirty="0">
                <a:latin typeface="Arial" panose="020B0604020202020204" pitchFamily="34" charset="0"/>
                <a:cs typeface="Arial" panose="020B0604020202020204" pitchFamily="34" charset="0"/>
              </a:rPr>
            </a:br>
            <a:r>
              <a:rPr lang="en-US" sz="900" dirty="0" err="1">
                <a:latin typeface="Arial" panose="020B0604020202020204" pitchFamily="34" charset="0"/>
                <a:cs typeface="Arial" panose="020B0604020202020204" pitchFamily="34" charset="0"/>
              </a:rPr>
              <a:t>l’exemple</a:t>
            </a:r>
            <a:r>
              <a:rPr lang="en-US" sz="900" dirty="0">
                <a:latin typeface="Arial" panose="020B0604020202020204" pitchFamily="34" charset="0"/>
                <a:cs typeface="Arial" panose="020B0604020202020204" pitchFamily="34" charset="0"/>
              </a:rPr>
              <a:t> de </a:t>
            </a:r>
            <a:r>
              <a:rPr lang="en-US" sz="900" dirty="0" err="1">
                <a:latin typeface="Arial" panose="020B0604020202020204" pitchFamily="34" charset="0"/>
                <a:cs typeface="Arial" panose="020B0604020202020204" pitchFamily="34" charset="0"/>
              </a:rPr>
              <a:t>l’indice</a:t>
            </a:r>
            <a:r>
              <a:rPr lang="en-US" sz="900" dirty="0">
                <a:latin typeface="Arial" panose="020B0604020202020204" pitchFamily="34" charset="0"/>
                <a:cs typeface="Arial" panose="020B0604020202020204" pitchFamily="34" charset="0"/>
              </a:rPr>
              <a:t> Dow Jones Industrial Average. </a:t>
            </a:r>
          </a:p>
          <a:p>
            <a:endParaRPr lang="en-US" sz="900" dirty="0">
              <a:latin typeface="Arial" panose="020B0604020202020204" pitchFamily="34" charset="0"/>
            </a:endParaRPr>
          </a:p>
        </p:txBody>
      </p:sp>
      <p:pic>
        <p:nvPicPr>
          <p:cNvPr id="6146" name="Picture 2" descr="English- UnitedHealth Group">
            <a:extLst>
              <a:ext uri="{FF2B5EF4-FFF2-40B4-BE49-F238E27FC236}">
                <a16:creationId xmlns:a16="http://schemas.microsoft.com/office/drawing/2014/main" id="{C3F71712-D853-76BF-F09E-1F1E0AB67BF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710364" y="2802314"/>
            <a:ext cx="2448332" cy="769301"/>
          </a:xfrm>
          <a:prstGeom prst="rect">
            <a:avLst/>
          </a:prstGeom>
          <a:noFill/>
          <a:extLst>
            <a:ext uri="{909E8E84-426E-40DD-AFC4-6F175D3DCCD1}">
              <a14:hiddenFill xmlns:a14="http://schemas.microsoft.com/office/drawing/2010/main">
                <a:solidFill>
                  <a:srgbClr val="FFFFFF"/>
                </a:solidFill>
              </a14:hiddenFill>
            </a:ext>
          </a:extLst>
        </p:spPr>
      </p:pic>
      <p:pic>
        <p:nvPicPr>
          <p:cNvPr id="6148" name="Picture 4" descr="Constructel Visabeira - GOLDMAN SACHS ASSET MANAGEMENT INVESTS 200 MILLION  EUROS IN CONSTRUCTEL VISABEIRA">
            <a:extLst>
              <a:ext uri="{FF2B5EF4-FFF2-40B4-BE49-F238E27FC236}">
                <a16:creationId xmlns:a16="http://schemas.microsoft.com/office/drawing/2014/main" id="{95628197-A821-EC2B-2A1B-7EF94F2E2D1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025346" y="1189778"/>
            <a:ext cx="2966630" cy="1505838"/>
          </a:xfrm>
          <a:prstGeom prst="rect">
            <a:avLst/>
          </a:prstGeom>
          <a:noFill/>
          <a:extLst>
            <a:ext uri="{909E8E84-426E-40DD-AFC4-6F175D3DCCD1}">
              <a14:hiddenFill xmlns:a14="http://schemas.microsoft.com/office/drawing/2010/main">
                <a:solidFill>
                  <a:srgbClr val="FFFFFF"/>
                </a:solidFill>
              </a14:hiddenFill>
            </a:ext>
          </a:extLst>
        </p:spPr>
      </p:pic>
      <p:pic>
        <p:nvPicPr>
          <p:cNvPr id="13" name="Picture 12">
            <a:extLst>
              <a:ext uri="{FF2B5EF4-FFF2-40B4-BE49-F238E27FC236}">
                <a16:creationId xmlns:a16="http://schemas.microsoft.com/office/drawing/2014/main" id="{66DA3690-391C-06FE-6CAF-A50130559037}"/>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045539" y="3678313"/>
            <a:ext cx="2830830" cy="1592342"/>
          </a:xfrm>
          <a:prstGeom prst="rect">
            <a:avLst/>
          </a:prstGeom>
        </p:spPr>
      </p:pic>
      <p:pic>
        <p:nvPicPr>
          <p:cNvPr id="15" name="Picture 14">
            <a:extLst>
              <a:ext uri="{FF2B5EF4-FFF2-40B4-BE49-F238E27FC236}">
                <a16:creationId xmlns:a16="http://schemas.microsoft.com/office/drawing/2014/main" id="{413571B6-BD80-AFDE-0274-294C0291B186}"/>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648513" y="4943905"/>
            <a:ext cx="2486372" cy="866896"/>
          </a:xfrm>
          <a:prstGeom prst="rect">
            <a:avLst/>
          </a:prstGeom>
        </p:spPr>
      </p:pic>
      <p:sp>
        <p:nvSpPr>
          <p:cNvPr id="16" name="TextBox 15">
            <a:extLst>
              <a:ext uri="{FF2B5EF4-FFF2-40B4-BE49-F238E27FC236}">
                <a16:creationId xmlns:a16="http://schemas.microsoft.com/office/drawing/2014/main" id="{4E51F0D8-4AEB-8B28-1FC6-8B6FE9A3B704}"/>
              </a:ext>
            </a:extLst>
          </p:cNvPr>
          <p:cNvSpPr txBox="1"/>
          <p:nvPr/>
        </p:nvSpPr>
        <p:spPr>
          <a:xfrm>
            <a:off x="6554015" y="5999436"/>
            <a:ext cx="3428185" cy="507831"/>
          </a:xfrm>
          <a:prstGeom prst="rect">
            <a:avLst/>
          </a:prstGeom>
          <a:noFill/>
        </p:spPr>
        <p:txBody>
          <a:bodyPr wrap="square" rtlCol="0">
            <a:spAutoFit/>
          </a:bodyPr>
          <a:lstStyle/>
          <a:p>
            <a:pPr lvl="0" eaLnBrk="0" fontAlgn="base" hangingPunct="0">
              <a:spcBef>
                <a:spcPct val="0"/>
              </a:spcBef>
              <a:spcAft>
                <a:spcPct val="0"/>
              </a:spcAft>
            </a:pPr>
            <a:r>
              <a:rPr lang="en-US" altLang="en-US" sz="900" dirty="0">
                <a:latin typeface="Arial" panose="020B0604020202020204" pitchFamily="34" charset="0"/>
              </a:rPr>
              <a:t>Sources : Sites </a:t>
            </a:r>
            <a:r>
              <a:rPr lang="en-US" altLang="en-US" sz="900" dirty="0" err="1">
                <a:latin typeface="Arial" panose="020B0604020202020204" pitchFamily="34" charset="0"/>
              </a:rPr>
              <a:t>officiels</a:t>
            </a:r>
            <a:r>
              <a:rPr lang="en-US" altLang="en-US" sz="900" dirty="0">
                <a:latin typeface="Arial" panose="020B0604020202020204" pitchFamily="34" charset="0"/>
              </a:rPr>
              <a:t> des </a:t>
            </a:r>
            <a:r>
              <a:rPr lang="en-US" altLang="en-US" sz="900" dirty="0" err="1">
                <a:latin typeface="Arial" panose="020B0604020202020204" pitchFamily="34" charset="0"/>
              </a:rPr>
              <a:t>entreprises</a:t>
            </a:r>
            <a:r>
              <a:rPr lang="en-US" altLang="en-US" sz="900" dirty="0">
                <a:latin typeface="Arial" panose="020B0604020202020204" pitchFamily="34" charset="0"/>
              </a:rPr>
              <a:t> pour logos (goldmansachs.com, uhc.com, microsoft.com).</a:t>
            </a:r>
            <a:br>
              <a:rPr lang="en-US" altLang="en-US" sz="900" dirty="0">
                <a:latin typeface="Arial" panose="020B0604020202020204" pitchFamily="34" charset="0"/>
              </a:rPr>
            </a:br>
            <a:r>
              <a:rPr lang="en-US" altLang="en-US" sz="900" dirty="0">
                <a:latin typeface="Arial" panose="020B0604020202020204" pitchFamily="34" charset="0"/>
              </a:rPr>
              <a:t>Pour la </a:t>
            </a:r>
            <a:r>
              <a:rPr lang="en-US" altLang="en-US" sz="900" dirty="0" err="1">
                <a:latin typeface="Arial" panose="020B0604020202020204" pitchFamily="34" charset="0"/>
              </a:rPr>
              <a:t>formule</a:t>
            </a:r>
            <a:r>
              <a:rPr lang="en-US" altLang="en-US" sz="900" dirty="0">
                <a:latin typeface="Arial" panose="020B0604020202020204" pitchFamily="34" charset="0"/>
              </a:rPr>
              <a:t> : </a:t>
            </a:r>
            <a:r>
              <a:rPr lang="en-US" sz="900" dirty="0">
                <a:latin typeface="Arial" panose="020B0604020202020204" pitchFamily="34" charset="0"/>
              </a:rPr>
              <a:t>S&amp;P Dow Jones Indices </a:t>
            </a:r>
            <a:r>
              <a:rPr lang="en-US" sz="900" dirty="0" err="1">
                <a:latin typeface="Arial" panose="020B0604020202020204" pitchFamily="34" charset="0"/>
              </a:rPr>
              <a:t>consulté</a:t>
            </a:r>
            <a:r>
              <a:rPr lang="en-US" sz="900" dirty="0">
                <a:latin typeface="Arial" panose="020B0604020202020204" pitchFamily="34" charset="0"/>
              </a:rPr>
              <a:t> </a:t>
            </a:r>
            <a:r>
              <a:rPr lang="en-US" sz="900" dirty="0" err="1">
                <a:latin typeface="Arial" panose="020B0604020202020204" pitchFamily="34" charset="0"/>
              </a:rPr>
              <a:t>janvier</a:t>
            </a:r>
            <a:r>
              <a:rPr lang="en-US" sz="900" dirty="0">
                <a:latin typeface="Arial" panose="020B0604020202020204" pitchFamily="34" charset="0"/>
              </a:rPr>
              <a:t> 2026</a:t>
            </a:r>
            <a:endParaRPr lang="en-US" altLang="en-US" sz="900" dirty="0">
              <a:latin typeface="Arial" panose="020B0604020202020204" pitchFamily="34" charset="0"/>
            </a:endParaRPr>
          </a:p>
        </p:txBody>
      </p:sp>
    </p:spTree>
    <p:extLst>
      <p:ext uri="{BB962C8B-B14F-4D97-AF65-F5344CB8AC3E}">
        <p14:creationId xmlns:p14="http://schemas.microsoft.com/office/powerpoint/2010/main" val="250073432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7B17B5-28A1-668A-FE71-A5CA0BF1D4A7}"/>
              </a:ext>
            </a:extLst>
          </p:cNvPr>
          <p:cNvSpPr>
            <a:spLocks noGrp="1"/>
          </p:cNvSpPr>
          <p:nvPr>
            <p:ph type="title"/>
          </p:nvPr>
        </p:nvSpPr>
        <p:spPr>
          <a:xfrm>
            <a:off x="3986784" y="576330"/>
            <a:ext cx="4218432" cy="1325563"/>
          </a:xfrm>
        </p:spPr>
        <p:txBody>
          <a:bodyPr>
            <a:normAutofit/>
          </a:bodyPr>
          <a:lstStyle/>
          <a:p>
            <a:r>
              <a:rPr lang="fr-FR" sz="1600" b="1" dirty="0">
                <a:latin typeface="Arial" panose="020B0604020202020204" pitchFamily="34" charset="0"/>
                <a:cs typeface="Arial" panose="020B0604020202020204" pitchFamily="34" charset="0"/>
              </a:rPr>
              <a:t>Partie 1 : Contexte historique (2010–2025)</a:t>
            </a:r>
          </a:p>
        </p:txBody>
      </p:sp>
      <p:sp>
        <p:nvSpPr>
          <p:cNvPr id="3" name="Content Placeholder 2">
            <a:extLst>
              <a:ext uri="{FF2B5EF4-FFF2-40B4-BE49-F238E27FC236}">
                <a16:creationId xmlns:a16="http://schemas.microsoft.com/office/drawing/2014/main" id="{83BD3335-928F-D522-0250-894671B9660B}"/>
              </a:ext>
            </a:extLst>
          </p:cNvPr>
          <p:cNvSpPr>
            <a:spLocks noGrp="1"/>
          </p:cNvSpPr>
          <p:nvPr>
            <p:ph idx="1"/>
          </p:nvPr>
        </p:nvSpPr>
        <p:spPr>
          <a:xfrm>
            <a:off x="1127760" y="1930332"/>
            <a:ext cx="4968240" cy="4351338"/>
          </a:xfrm>
        </p:spPr>
        <p:txBody>
          <a:bodyPr>
            <a:normAutofit/>
          </a:bodyPr>
          <a:lstStyle/>
          <a:p>
            <a:pPr marL="0" indent="0">
              <a:lnSpc>
                <a:spcPct val="150000"/>
              </a:lnSpc>
              <a:buNone/>
            </a:pPr>
            <a:r>
              <a:rPr lang="fr-FR" sz="1200" b="1" dirty="0">
                <a:latin typeface="Arial" panose="020B0604020202020204" pitchFamily="34" charset="0"/>
                <a:cs typeface="Arial" panose="020B0604020202020204" pitchFamily="34" charset="0"/>
              </a:rPr>
              <a:t>Les grandes phases de l’évolution du Dow Jones (2010–2025)</a:t>
            </a:r>
          </a:p>
          <a:p>
            <a:pPr marL="0" indent="0">
              <a:lnSpc>
                <a:spcPct val="150000"/>
              </a:lnSpc>
              <a:buNone/>
            </a:pPr>
            <a:r>
              <a:rPr lang="fr-FR" sz="1200" dirty="0">
                <a:latin typeface="Arial" panose="020B0604020202020204" pitchFamily="34" charset="0"/>
                <a:cs typeface="Arial" panose="020B0604020202020204" pitchFamily="34" charset="0"/>
              </a:rPr>
              <a:t>2010–2014 : Reconstruction post-crise</a:t>
            </a:r>
            <a:br>
              <a:rPr lang="fr-FR" sz="1200" dirty="0">
                <a:latin typeface="Arial" panose="020B0604020202020204" pitchFamily="34" charset="0"/>
                <a:cs typeface="Arial" panose="020B0604020202020204" pitchFamily="34" charset="0"/>
              </a:rPr>
            </a:br>
            <a:r>
              <a:rPr lang="fr-FR" sz="1200" dirty="0">
                <a:latin typeface="Arial" panose="020B0604020202020204" pitchFamily="34" charset="0"/>
                <a:cs typeface="Arial" panose="020B0604020202020204" pitchFamily="34" charset="0"/>
              </a:rPr>
              <a:t>- QE, taux bas, forte reprise boursière</a:t>
            </a:r>
          </a:p>
          <a:p>
            <a:pPr marL="0" indent="0">
              <a:lnSpc>
                <a:spcPct val="150000"/>
              </a:lnSpc>
              <a:buNone/>
            </a:pPr>
            <a:r>
              <a:rPr lang="fr-FR" sz="1200" dirty="0">
                <a:latin typeface="Arial" panose="020B0604020202020204" pitchFamily="34" charset="0"/>
                <a:cs typeface="Arial" panose="020B0604020202020204" pitchFamily="34" charset="0"/>
              </a:rPr>
              <a:t>2017–2019 : Stimulation fiscale</a:t>
            </a:r>
            <a:br>
              <a:rPr lang="fr-FR" sz="1200" dirty="0">
                <a:latin typeface="Arial" panose="020B0604020202020204" pitchFamily="34" charset="0"/>
                <a:cs typeface="Arial" panose="020B0604020202020204" pitchFamily="34" charset="0"/>
              </a:rPr>
            </a:br>
            <a:r>
              <a:rPr lang="fr-FR" sz="1200" dirty="0">
                <a:latin typeface="Arial" panose="020B0604020202020204" pitchFamily="34" charset="0"/>
                <a:cs typeface="Arial" panose="020B0604020202020204" pitchFamily="34" charset="0"/>
              </a:rPr>
              <a:t>- réforme fiscale, volatilité géopolitique</a:t>
            </a:r>
          </a:p>
          <a:p>
            <a:pPr marL="0" indent="0">
              <a:lnSpc>
                <a:spcPct val="150000"/>
              </a:lnSpc>
              <a:buNone/>
            </a:pPr>
            <a:r>
              <a:rPr lang="fr-FR" sz="1200" dirty="0">
                <a:latin typeface="Arial" panose="020B0604020202020204" pitchFamily="34" charset="0"/>
                <a:cs typeface="Arial" panose="020B0604020202020204" pitchFamily="34" charset="0"/>
              </a:rPr>
              <a:t>2020–2021 : Choc pandémique</a:t>
            </a:r>
            <a:br>
              <a:rPr lang="fr-FR" sz="1200" dirty="0">
                <a:latin typeface="Arial" panose="020B0604020202020204" pitchFamily="34" charset="0"/>
                <a:cs typeface="Arial" panose="020B0604020202020204" pitchFamily="34" charset="0"/>
              </a:rPr>
            </a:br>
            <a:r>
              <a:rPr lang="fr-FR" sz="1200" dirty="0">
                <a:latin typeface="Arial" panose="020B0604020202020204" pitchFamily="34" charset="0"/>
                <a:cs typeface="Arial" panose="020B0604020202020204" pitchFamily="34" charset="0"/>
              </a:rPr>
              <a:t>- chute rapide puis rebond exceptionnel</a:t>
            </a:r>
          </a:p>
          <a:p>
            <a:pPr marL="0" indent="0">
              <a:lnSpc>
                <a:spcPct val="150000"/>
              </a:lnSpc>
              <a:buNone/>
            </a:pPr>
            <a:r>
              <a:rPr lang="fr-FR" sz="1200" dirty="0">
                <a:latin typeface="Arial" panose="020B0604020202020204" pitchFamily="34" charset="0"/>
                <a:cs typeface="Arial" panose="020B0604020202020204" pitchFamily="34" charset="0"/>
              </a:rPr>
              <a:t>2024–2025 : Euphorie de l’IA</a:t>
            </a:r>
            <a:br>
              <a:rPr lang="fr-FR" sz="1200" dirty="0">
                <a:latin typeface="Arial" panose="020B0604020202020204" pitchFamily="34" charset="0"/>
                <a:cs typeface="Arial" panose="020B0604020202020204" pitchFamily="34" charset="0"/>
              </a:rPr>
            </a:br>
            <a:r>
              <a:rPr lang="fr-FR" sz="1200" dirty="0">
                <a:latin typeface="Arial" panose="020B0604020202020204" pitchFamily="34" charset="0"/>
                <a:cs typeface="Arial" panose="020B0604020202020204" pitchFamily="34" charset="0"/>
              </a:rPr>
              <a:t>- revalorisation structurelle des entreprises innovantes</a:t>
            </a:r>
          </a:p>
          <a:p>
            <a:pPr marL="0" indent="0">
              <a:lnSpc>
                <a:spcPct val="150000"/>
              </a:lnSpc>
              <a:buNone/>
            </a:pPr>
            <a:endParaRPr lang="en-US" sz="1200" dirty="0">
              <a:latin typeface="Arial" panose="020B0604020202020204" pitchFamily="34" charset="0"/>
              <a:cs typeface="Arial" panose="020B0604020202020204" pitchFamily="34" charset="0"/>
            </a:endParaRPr>
          </a:p>
        </p:txBody>
      </p:sp>
      <p:sp>
        <p:nvSpPr>
          <p:cNvPr id="4" name="TextBox 3">
            <a:extLst>
              <a:ext uri="{FF2B5EF4-FFF2-40B4-BE49-F238E27FC236}">
                <a16:creationId xmlns:a16="http://schemas.microsoft.com/office/drawing/2014/main" id="{11195EF8-8811-D9CE-DCA5-4E061F187311}"/>
              </a:ext>
            </a:extLst>
          </p:cNvPr>
          <p:cNvSpPr txBox="1"/>
          <p:nvPr/>
        </p:nvSpPr>
        <p:spPr>
          <a:xfrm>
            <a:off x="6518912" y="5175698"/>
            <a:ext cx="3675670" cy="646331"/>
          </a:xfrm>
          <a:prstGeom prst="rect">
            <a:avLst/>
          </a:prstGeom>
          <a:noFill/>
        </p:spPr>
        <p:txBody>
          <a:bodyPr wrap="square" rtlCol="0">
            <a:spAutoFit/>
          </a:bodyPr>
          <a:lstStyle/>
          <a:p>
            <a:r>
              <a:rPr lang="fr-FR" sz="900" dirty="0">
                <a:latin typeface="Arial" panose="020B0604020202020204" pitchFamily="34" charset="0"/>
              </a:rPr>
              <a:t>Graphique des rendements annuels du Dow Jones par phase</a:t>
            </a:r>
            <a:br>
              <a:rPr lang="fr-FR" sz="900" dirty="0">
                <a:latin typeface="Arial" panose="020B0604020202020204" pitchFamily="34" charset="0"/>
              </a:rPr>
            </a:br>
            <a:r>
              <a:rPr lang="en-US" sz="900" dirty="0">
                <a:latin typeface="Arial" panose="020B0604020202020204" pitchFamily="34" charset="0"/>
              </a:rPr>
              <a:t>Sources : RBC Wealth Management, </a:t>
            </a:r>
            <a:r>
              <a:rPr lang="en-US" sz="900" i="1" dirty="0">
                <a:latin typeface="Arial" panose="020B0604020202020204" pitchFamily="34" charset="0"/>
              </a:rPr>
              <a:t>2026 Outlook: U.S. Stocks and Economy</a:t>
            </a:r>
            <a:r>
              <a:rPr lang="en-US" sz="900" dirty="0">
                <a:latin typeface="Arial" panose="020B0604020202020204" pitchFamily="34" charset="0"/>
              </a:rPr>
              <a:t>, 2025, Vanguard, </a:t>
            </a:r>
            <a:r>
              <a:rPr lang="en-US" sz="900" i="1" dirty="0">
                <a:latin typeface="Arial" panose="020B0604020202020204" pitchFamily="34" charset="0"/>
              </a:rPr>
              <a:t>AI Exuberance: Economic Upside, Stock Market Downside</a:t>
            </a:r>
            <a:r>
              <a:rPr lang="en-US" sz="900" dirty="0">
                <a:latin typeface="Arial" panose="020B0604020202020204" pitchFamily="34" charset="0"/>
              </a:rPr>
              <a:t>, 2025</a:t>
            </a:r>
          </a:p>
        </p:txBody>
      </p:sp>
      <p:pic>
        <p:nvPicPr>
          <p:cNvPr id="6" name="Picture 5">
            <a:extLst>
              <a:ext uri="{FF2B5EF4-FFF2-40B4-BE49-F238E27FC236}">
                <a16:creationId xmlns:a16="http://schemas.microsoft.com/office/drawing/2014/main" id="{9B49F088-5131-2311-8087-246910ADC78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518912" y="2072324"/>
            <a:ext cx="5160264" cy="3007229"/>
          </a:xfrm>
          <a:prstGeom prst="rect">
            <a:avLst/>
          </a:prstGeom>
        </p:spPr>
      </p:pic>
      <p:sp>
        <p:nvSpPr>
          <p:cNvPr id="7" name="Slide Number Placeholder 6">
            <a:extLst>
              <a:ext uri="{FF2B5EF4-FFF2-40B4-BE49-F238E27FC236}">
                <a16:creationId xmlns:a16="http://schemas.microsoft.com/office/drawing/2014/main" id="{0C85EF9A-ABCD-4624-E1CC-C133A4B1E61A}"/>
              </a:ext>
            </a:extLst>
          </p:cNvPr>
          <p:cNvSpPr>
            <a:spLocks noGrp="1"/>
          </p:cNvSpPr>
          <p:nvPr>
            <p:ph type="sldNum" sz="quarter" idx="12"/>
          </p:nvPr>
        </p:nvSpPr>
        <p:spPr/>
        <p:txBody>
          <a:bodyPr/>
          <a:lstStyle/>
          <a:p>
            <a:fld id="{C2BC48A5-4F43-4573-99E8-824F842D28E4}" type="slidenum">
              <a:rPr lang="en-US" smtClean="0"/>
              <a:t>3</a:t>
            </a:fld>
            <a:endParaRPr lang="en-US"/>
          </a:p>
        </p:txBody>
      </p:sp>
      <p:sp>
        <p:nvSpPr>
          <p:cNvPr id="8" name="TextBox 7">
            <a:extLst>
              <a:ext uri="{FF2B5EF4-FFF2-40B4-BE49-F238E27FC236}">
                <a16:creationId xmlns:a16="http://schemas.microsoft.com/office/drawing/2014/main" id="{8739FF43-E1D8-E65B-8B49-2DF61FFF9549}"/>
              </a:ext>
            </a:extLst>
          </p:cNvPr>
          <p:cNvSpPr txBox="1"/>
          <p:nvPr/>
        </p:nvSpPr>
        <p:spPr>
          <a:xfrm>
            <a:off x="6096000" y="287697"/>
            <a:ext cx="11745468" cy="507831"/>
          </a:xfrm>
          <a:prstGeom prst="rect">
            <a:avLst/>
          </a:prstGeom>
          <a:noFill/>
        </p:spPr>
        <p:txBody>
          <a:bodyPr wrap="square" rtlCol="0">
            <a:spAutoFit/>
          </a:bodyPr>
          <a:lstStyle/>
          <a:p>
            <a:r>
              <a:rPr lang="en-US" sz="900" dirty="0" err="1">
                <a:latin typeface="Arial" panose="020B0604020202020204" pitchFamily="34" charset="0"/>
                <a:cs typeface="Arial" panose="020B0604020202020204" pitchFamily="34" charset="0"/>
              </a:rPr>
              <a:t>Évolution</a:t>
            </a:r>
            <a:r>
              <a:rPr lang="en-US" sz="900" dirty="0">
                <a:latin typeface="Arial" panose="020B0604020202020204" pitchFamily="34" charset="0"/>
                <a:cs typeface="Arial" panose="020B0604020202020204" pitchFamily="34" charset="0"/>
              </a:rPr>
              <a:t> du </a:t>
            </a:r>
            <a:r>
              <a:rPr lang="en-US" sz="900" dirty="0" err="1">
                <a:latin typeface="Arial" panose="020B0604020202020204" pitchFamily="34" charset="0"/>
                <a:cs typeface="Arial" panose="020B0604020202020204" pitchFamily="34" charset="0"/>
              </a:rPr>
              <a:t>marché</a:t>
            </a:r>
            <a:r>
              <a:rPr lang="en-US" sz="900" dirty="0">
                <a:latin typeface="Arial" panose="020B0604020202020204" pitchFamily="34" charset="0"/>
                <a:cs typeface="Arial" panose="020B0604020202020204" pitchFamily="34" charset="0"/>
              </a:rPr>
              <a:t> des actions aux États-Unis </a:t>
            </a:r>
            <a:r>
              <a:rPr lang="en-US" sz="900" dirty="0" err="1">
                <a:latin typeface="Arial" panose="020B0604020202020204" pitchFamily="34" charset="0"/>
                <a:cs typeface="Arial" panose="020B0604020202020204" pitchFamily="34" charset="0"/>
              </a:rPr>
              <a:t>depuis</a:t>
            </a:r>
            <a:r>
              <a:rPr lang="en-US" sz="900" dirty="0">
                <a:latin typeface="Arial" panose="020B0604020202020204" pitchFamily="34" charset="0"/>
                <a:cs typeface="Arial" panose="020B0604020202020204" pitchFamily="34" charset="0"/>
              </a:rPr>
              <a:t> 2010 :                                                  </a:t>
            </a:r>
            <a:r>
              <a:rPr lang="en-US" sz="900" dirty="0" err="1">
                <a:latin typeface="Arial" panose="020B0604020202020204" pitchFamily="34" charset="0"/>
              </a:rPr>
              <a:t>Plotnykov</a:t>
            </a:r>
            <a:r>
              <a:rPr lang="en-US" sz="900" dirty="0">
                <a:latin typeface="Arial" panose="020B0604020202020204" pitchFamily="34" charset="0"/>
              </a:rPr>
              <a:t> Andrii</a:t>
            </a:r>
            <a:br>
              <a:rPr lang="en-US" sz="900" dirty="0">
                <a:latin typeface="Arial" panose="020B0604020202020204" pitchFamily="34" charset="0"/>
                <a:cs typeface="Arial" panose="020B0604020202020204" pitchFamily="34" charset="0"/>
              </a:rPr>
            </a:br>
            <a:r>
              <a:rPr lang="en-US" sz="900" dirty="0" err="1">
                <a:latin typeface="Arial" panose="020B0604020202020204" pitchFamily="34" charset="0"/>
                <a:cs typeface="Arial" panose="020B0604020202020204" pitchFamily="34" charset="0"/>
              </a:rPr>
              <a:t>l’exemple</a:t>
            </a:r>
            <a:r>
              <a:rPr lang="en-US" sz="900" dirty="0">
                <a:latin typeface="Arial" panose="020B0604020202020204" pitchFamily="34" charset="0"/>
                <a:cs typeface="Arial" panose="020B0604020202020204" pitchFamily="34" charset="0"/>
              </a:rPr>
              <a:t> de </a:t>
            </a:r>
            <a:r>
              <a:rPr lang="en-US" sz="900" dirty="0" err="1">
                <a:latin typeface="Arial" panose="020B0604020202020204" pitchFamily="34" charset="0"/>
                <a:cs typeface="Arial" panose="020B0604020202020204" pitchFamily="34" charset="0"/>
              </a:rPr>
              <a:t>l’indice</a:t>
            </a:r>
            <a:r>
              <a:rPr lang="en-US" sz="900" dirty="0">
                <a:latin typeface="Arial" panose="020B0604020202020204" pitchFamily="34" charset="0"/>
                <a:cs typeface="Arial" panose="020B0604020202020204" pitchFamily="34" charset="0"/>
              </a:rPr>
              <a:t> Dow Jones Industrial Average. </a:t>
            </a:r>
          </a:p>
          <a:p>
            <a:endParaRPr lang="en-US" sz="900" dirty="0">
              <a:latin typeface="Arial" panose="020B0604020202020204" pitchFamily="34" charset="0"/>
            </a:endParaRPr>
          </a:p>
        </p:txBody>
      </p:sp>
    </p:spTree>
    <p:extLst>
      <p:ext uri="{BB962C8B-B14F-4D97-AF65-F5344CB8AC3E}">
        <p14:creationId xmlns:p14="http://schemas.microsoft.com/office/powerpoint/2010/main" val="348582364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1B7121-2A9C-0452-FF8F-A6D70751B171}"/>
              </a:ext>
            </a:extLst>
          </p:cNvPr>
          <p:cNvSpPr>
            <a:spLocks noGrp="1"/>
          </p:cNvSpPr>
          <p:nvPr>
            <p:ph type="title"/>
          </p:nvPr>
        </p:nvSpPr>
        <p:spPr>
          <a:xfrm>
            <a:off x="3563112" y="438645"/>
            <a:ext cx="4456176" cy="1325563"/>
          </a:xfrm>
        </p:spPr>
        <p:txBody>
          <a:bodyPr>
            <a:normAutofit/>
          </a:bodyPr>
          <a:lstStyle/>
          <a:p>
            <a:r>
              <a:rPr lang="fr-FR" sz="1600" b="1" dirty="0"/>
              <a:t>Partie 2 : Analyse microéconomique et sectorielle</a:t>
            </a:r>
            <a:endParaRPr lang="en-US" sz="1600" b="1" dirty="0"/>
          </a:p>
        </p:txBody>
      </p:sp>
      <p:sp>
        <p:nvSpPr>
          <p:cNvPr id="3" name="Content Placeholder 2">
            <a:extLst>
              <a:ext uri="{FF2B5EF4-FFF2-40B4-BE49-F238E27FC236}">
                <a16:creationId xmlns:a16="http://schemas.microsoft.com/office/drawing/2014/main" id="{B54A7652-1B64-D7D5-4B50-24418BA288CC}"/>
              </a:ext>
            </a:extLst>
          </p:cNvPr>
          <p:cNvSpPr>
            <a:spLocks noGrp="1"/>
          </p:cNvSpPr>
          <p:nvPr>
            <p:ph idx="1"/>
          </p:nvPr>
        </p:nvSpPr>
        <p:spPr>
          <a:xfrm>
            <a:off x="457524" y="1452186"/>
            <a:ext cx="3951516" cy="5377239"/>
          </a:xfrm>
        </p:spPr>
        <p:txBody>
          <a:bodyPr>
            <a:normAutofit fontScale="25000" lnSpcReduction="20000"/>
          </a:bodyPr>
          <a:lstStyle/>
          <a:p>
            <a:pPr marL="0" indent="0">
              <a:lnSpc>
                <a:spcPct val="170000"/>
              </a:lnSpc>
              <a:buNone/>
            </a:pPr>
            <a:r>
              <a:rPr lang="fr-FR" sz="4800" b="1" dirty="0"/>
              <a:t>Jones Polarisation sectorielle</a:t>
            </a:r>
            <a:br>
              <a:rPr lang="fr-FR" sz="4800" b="1" dirty="0"/>
            </a:br>
            <a:r>
              <a:rPr lang="fr-FR" sz="4800" dirty="0"/>
              <a:t>La performance du Dow Jones est désormais expliquée de manière dominante par les secteurs technologie et services financiers, dont les rendements sur capitaux investis sont élevés</a:t>
            </a:r>
          </a:p>
          <a:p>
            <a:pPr marL="0" indent="0">
              <a:lnSpc>
                <a:spcPct val="170000"/>
              </a:lnSpc>
              <a:buNone/>
            </a:pPr>
            <a:r>
              <a:rPr lang="fr-FR" sz="4800" b="1" dirty="0"/>
              <a:t>Technologie et finance data-</a:t>
            </a:r>
            <a:r>
              <a:rPr lang="fr-FR" sz="4800" b="1" dirty="0" err="1"/>
              <a:t>driven</a:t>
            </a:r>
            <a:br>
              <a:rPr lang="fr-FR" sz="4800" b="1" dirty="0"/>
            </a:br>
            <a:r>
              <a:rPr lang="fr-FR" sz="4800" dirty="0"/>
              <a:t>Les entreprises exposées au cloud, aux semi-conducteurs et aux services financiers numériques capturent des économies d’échelle globales, des marges EBITDA élevées et une résilience accrue face aux cycles macroéconomiques.</a:t>
            </a:r>
          </a:p>
          <a:p>
            <a:pPr marL="0" indent="0">
              <a:lnSpc>
                <a:spcPct val="170000"/>
              </a:lnSpc>
              <a:buNone/>
            </a:pPr>
            <a:r>
              <a:rPr lang="fr-FR" sz="4800" b="1" dirty="0"/>
              <a:t>Compression des secteurs traditionnels</a:t>
            </a:r>
            <a:br>
              <a:rPr lang="fr-FR" sz="4800" b="1" dirty="0"/>
            </a:br>
            <a:r>
              <a:rPr lang="fr-FR" sz="4800" dirty="0"/>
              <a:t>La consommation de base et l’immobilier affichent une contribution marginale décroissante au rendement de l’indice, sous l’effet combiné de la hausse du coût du capital, de la pression sur les volumes et de la rigidité des structures de coûts.</a:t>
            </a:r>
          </a:p>
          <a:p>
            <a:pPr marL="0" indent="0">
              <a:buNone/>
            </a:pPr>
            <a:endParaRPr lang="en-US" sz="1200" dirty="0">
              <a:latin typeface="Arial" panose="020B0604020202020204" pitchFamily="34" charset="0"/>
              <a:cs typeface="Arial" panose="020B0604020202020204" pitchFamily="34" charset="0"/>
            </a:endParaRPr>
          </a:p>
        </p:txBody>
      </p:sp>
      <p:pic>
        <p:nvPicPr>
          <p:cNvPr id="6" name="Picture 5">
            <a:extLst>
              <a:ext uri="{FF2B5EF4-FFF2-40B4-BE49-F238E27FC236}">
                <a16:creationId xmlns:a16="http://schemas.microsoft.com/office/drawing/2014/main" id="{F6D445F9-E297-2493-DEC7-EA738D27576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921927" y="3252725"/>
            <a:ext cx="5015065" cy="2826609"/>
          </a:xfrm>
          <a:prstGeom prst="rect">
            <a:avLst/>
          </a:prstGeom>
        </p:spPr>
      </p:pic>
      <p:sp>
        <p:nvSpPr>
          <p:cNvPr id="7" name="TextBox 6">
            <a:extLst>
              <a:ext uri="{FF2B5EF4-FFF2-40B4-BE49-F238E27FC236}">
                <a16:creationId xmlns:a16="http://schemas.microsoft.com/office/drawing/2014/main" id="{96D755AB-8EEF-55AF-5216-73FD6113C1D2}"/>
              </a:ext>
            </a:extLst>
          </p:cNvPr>
          <p:cNvSpPr txBox="1"/>
          <p:nvPr/>
        </p:nvSpPr>
        <p:spPr>
          <a:xfrm>
            <a:off x="5921927" y="5987018"/>
            <a:ext cx="5971508" cy="369332"/>
          </a:xfrm>
          <a:prstGeom prst="rect">
            <a:avLst/>
          </a:prstGeom>
          <a:noFill/>
        </p:spPr>
        <p:txBody>
          <a:bodyPr wrap="square" rtlCol="0">
            <a:spAutoFit/>
          </a:bodyPr>
          <a:lstStyle/>
          <a:p>
            <a:pPr lvl="0" eaLnBrk="0" fontAlgn="base" hangingPunct="0">
              <a:spcBef>
                <a:spcPct val="0"/>
              </a:spcBef>
              <a:spcAft>
                <a:spcPct val="0"/>
              </a:spcAft>
            </a:pPr>
            <a:r>
              <a:rPr lang="en-US" altLang="en-US" sz="900" dirty="0">
                <a:latin typeface="Arial" panose="020B0604020202020204" pitchFamily="34" charset="0"/>
              </a:rPr>
              <a:t>Sources : </a:t>
            </a:r>
            <a:r>
              <a:rPr lang="en-US" altLang="en-US" sz="900" dirty="0" err="1">
                <a:latin typeface="Arial" panose="020B0604020202020204" pitchFamily="34" charset="0"/>
              </a:rPr>
              <a:t>fichier</a:t>
            </a:r>
            <a:r>
              <a:rPr lang="en-US" altLang="en-US" sz="900" dirty="0">
                <a:latin typeface="Arial" panose="020B0604020202020204" pitchFamily="34" charset="0"/>
              </a:rPr>
              <a:t> Excel </a:t>
            </a:r>
            <a:r>
              <a:rPr lang="en-US" altLang="en-US" sz="900" i="1" dirty="0">
                <a:latin typeface="Arial" panose="020B0604020202020204" pitchFamily="34" charset="0"/>
              </a:rPr>
              <a:t>DOW 30</a:t>
            </a:r>
            <a:r>
              <a:rPr lang="en-US" altLang="en-US" sz="900" dirty="0">
                <a:latin typeface="Arial" panose="020B0604020202020204" pitchFamily="34" charset="0"/>
              </a:rPr>
              <a:t>, onglet </a:t>
            </a:r>
            <a:r>
              <a:rPr lang="en-US" altLang="en-US" sz="900" i="1" dirty="0">
                <a:latin typeface="Arial" panose="020B0604020202020204" pitchFamily="34" charset="0"/>
              </a:rPr>
              <a:t>Performance </a:t>
            </a:r>
            <a:r>
              <a:rPr lang="en-US" altLang="en-US" sz="900" i="1" dirty="0" err="1">
                <a:latin typeface="Arial" panose="020B0604020202020204" pitchFamily="34" charset="0"/>
              </a:rPr>
              <a:t>Sectorielle</a:t>
            </a:r>
            <a:r>
              <a:rPr lang="en-US" altLang="en-US" sz="900" i="1" dirty="0">
                <a:latin typeface="Arial" panose="020B0604020202020204" pitchFamily="34" charset="0"/>
              </a:rPr>
              <a:t> 2025</a:t>
            </a:r>
            <a:endParaRPr lang="en-US" altLang="en-US" sz="900" dirty="0">
              <a:latin typeface="Arial" panose="020B0604020202020204" pitchFamily="34" charset="0"/>
            </a:endParaRPr>
          </a:p>
          <a:p>
            <a:pPr lvl="0" eaLnBrk="0" fontAlgn="base" hangingPunct="0">
              <a:spcBef>
                <a:spcPct val="0"/>
              </a:spcBef>
              <a:spcAft>
                <a:spcPct val="0"/>
              </a:spcAft>
            </a:pPr>
            <a:r>
              <a:rPr lang="en-US" altLang="en-US" sz="900" dirty="0">
                <a:latin typeface="Arial" panose="020B0604020202020204" pitchFamily="34" charset="0"/>
              </a:rPr>
              <a:t>Données </a:t>
            </a:r>
            <a:r>
              <a:rPr lang="en-US" altLang="en-US" sz="900" dirty="0" err="1">
                <a:latin typeface="Arial" panose="020B0604020202020204" pitchFamily="34" charset="0"/>
              </a:rPr>
              <a:t>supplémentaires</a:t>
            </a:r>
            <a:r>
              <a:rPr lang="en-US" altLang="en-US" sz="900" dirty="0">
                <a:latin typeface="Arial" panose="020B0604020202020204" pitchFamily="34" charset="0"/>
              </a:rPr>
              <a:t> : Investing.com, </a:t>
            </a:r>
            <a:r>
              <a:rPr lang="en-US" altLang="en-US" sz="900" i="1" dirty="0">
                <a:latin typeface="Arial" panose="020B0604020202020204" pitchFamily="34" charset="0"/>
              </a:rPr>
              <a:t>DJIA Historical Components</a:t>
            </a:r>
            <a:r>
              <a:rPr lang="en-US" altLang="en-US" sz="900" dirty="0">
                <a:latin typeface="Arial" panose="020B0604020202020204" pitchFamily="34" charset="0"/>
              </a:rPr>
              <a:t>, </a:t>
            </a:r>
            <a:r>
              <a:rPr lang="en-US" altLang="en-US" sz="900" dirty="0" err="1">
                <a:latin typeface="Arial" panose="020B0604020202020204" pitchFamily="34" charset="0"/>
              </a:rPr>
              <a:t>consulté</a:t>
            </a:r>
            <a:r>
              <a:rPr lang="en-US" altLang="en-US" sz="900" dirty="0">
                <a:latin typeface="Arial" panose="020B0604020202020204" pitchFamily="34" charset="0"/>
              </a:rPr>
              <a:t> </a:t>
            </a:r>
            <a:r>
              <a:rPr lang="en-US" altLang="en-US" sz="900" dirty="0" err="1">
                <a:latin typeface="Arial" panose="020B0604020202020204" pitchFamily="34" charset="0"/>
              </a:rPr>
              <a:t>janvier</a:t>
            </a:r>
            <a:r>
              <a:rPr lang="en-US" altLang="en-US" sz="900" dirty="0">
                <a:latin typeface="Arial" panose="020B0604020202020204" pitchFamily="34" charset="0"/>
              </a:rPr>
              <a:t> 2026</a:t>
            </a:r>
          </a:p>
        </p:txBody>
      </p:sp>
      <p:sp>
        <p:nvSpPr>
          <p:cNvPr id="4" name="Slide Number Placeholder 3">
            <a:extLst>
              <a:ext uri="{FF2B5EF4-FFF2-40B4-BE49-F238E27FC236}">
                <a16:creationId xmlns:a16="http://schemas.microsoft.com/office/drawing/2014/main" id="{56F8999B-5040-9BF7-2334-87107CC9C0F7}"/>
              </a:ext>
            </a:extLst>
          </p:cNvPr>
          <p:cNvSpPr>
            <a:spLocks noGrp="1"/>
          </p:cNvSpPr>
          <p:nvPr>
            <p:ph type="sldNum" sz="quarter" idx="12"/>
          </p:nvPr>
        </p:nvSpPr>
        <p:spPr/>
        <p:txBody>
          <a:bodyPr/>
          <a:lstStyle/>
          <a:p>
            <a:fld id="{C2BC48A5-4F43-4573-99E8-824F842D28E4}" type="slidenum">
              <a:rPr lang="en-US" smtClean="0"/>
              <a:t>4</a:t>
            </a:fld>
            <a:endParaRPr lang="en-US"/>
          </a:p>
        </p:txBody>
      </p:sp>
      <p:sp>
        <p:nvSpPr>
          <p:cNvPr id="5" name="TextBox 4">
            <a:extLst>
              <a:ext uri="{FF2B5EF4-FFF2-40B4-BE49-F238E27FC236}">
                <a16:creationId xmlns:a16="http://schemas.microsoft.com/office/drawing/2014/main" id="{7608ECC3-4E13-9BEE-9142-F3E0C9A45ACE}"/>
              </a:ext>
            </a:extLst>
          </p:cNvPr>
          <p:cNvSpPr txBox="1"/>
          <p:nvPr/>
        </p:nvSpPr>
        <p:spPr>
          <a:xfrm>
            <a:off x="4511256" y="1452186"/>
            <a:ext cx="3713772" cy="2529923"/>
          </a:xfrm>
          <a:prstGeom prst="rect">
            <a:avLst/>
          </a:prstGeom>
          <a:noFill/>
        </p:spPr>
        <p:txBody>
          <a:bodyPr wrap="square" rtlCol="0">
            <a:spAutoFit/>
          </a:bodyPr>
          <a:lstStyle/>
          <a:p>
            <a:pPr>
              <a:lnSpc>
                <a:spcPct val="150000"/>
              </a:lnSpc>
            </a:pPr>
            <a:r>
              <a:rPr lang="fr-FR" sz="1200" b="1" dirty="0">
                <a:latin typeface="Arial" panose="020B0604020202020204" pitchFamily="34" charset="0"/>
              </a:rPr>
              <a:t>Leadership des méga-capitalisations</a:t>
            </a:r>
            <a:br>
              <a:rPr lang="fr-FR" sz="1200" b="1" dirty="0">
                <a:latin typeface="Arial" panose="020B0604020202020204" pitchFamily="34" charset="0"/>
              </a:rPr>
            </a:br>
            <a:r>
              <a:rPr lang="fr-FR" sz="1200" dirty="0">
                <a:latin typeface="Arial" panose="020B0604020202020204" pitchFamily="34" charset="0"/>
              </a:rPr>
              <a:t>Microsoft, Apple, Amazon et NVIDIA agissent comme moteurs économiques du Dow Jones via leur capacité à générer des flux de trésorerie libres récurrents finançant l’innovation, indépendamment de leur pondération nominale dans un indice </a:t>
            </a:r>
            <a:r>
              <a:rPr lang="fr-FR" sz="1200" dirty="0" err="1">
                <a:latin typeface="Arial" panose="020B0604020202020204" pitchFamily="34" charset="0"/>
              </a:rPr>
              <a:t>price-weighted</a:t>
            </a:r>
            <a:r>
              <a:rPr lang="fr-FR" sz="1200" dirty="0">
                <a:latin typeface="Arial" panose="020B0604020202020204" pitchFamily="34" charset="0"/>
              </a:rPr>
              <a:t>.</a:t>
            </a:r>
          </a:p>
          <a:p>
            <a:pPr eaLnBrk="0" fontAlgn="base" hangingPunct="0">
              <a:lnSpc>
                <a:spcPct val="170000"/>
              </a:lnSpc>
              <a:spcBef>
                <a:spcPct val="0"/>
              </a:spcBef>
              <a:spcAft>
                <a:spcPct val="0"/>
              </a:spcAft>
            </a:pPr>
            <a:endParaRPr lang="en-US" altLang="en-US" sz="1200" dirty="0">
              <a:latin typeface="Arial" panose="020B0604020202020204" pitchFamily="34" charset="0"/>
              <a:cs typeface="Arial" panose="020B0604020202020204" pitchFamily="34" charset="0"/>
            </a:endParaRPr>
          </a:p>
          <a:p>
            <a:endParaRPr lang="en-US" sz="1200" dirty="0">
              <a:latin typeface="Arial" panose="020B0604020202020204" pitchFamily="34" charset="0"/>
            </a:endParaRPr>
          </a:p>
        </p:txBody>
      </p:sp>
      <p:sp>
        <p:nvSpPr>
          <p:cNvPr id="8" name="TextBox 7">
            <a:extLst>
              <a:ext uri="{FF2B5EF4-FFF2-40B4-BE49-F238E27FC236}">
                <a16:creationId xmlns:a16="http://schemas.microsoft.com/office/drawing/2014/main" id="{CD0423F8-6B92-87A3-EB70-9CC371C15C05}"/>
              </a:ext>
            </a:extLst>
          </p:cNvPr>
          <p:cNvSpPr txBox="1"/>
          <p:nvPr/>
        </p:nvSpPr>
        <p:spPr>
          <a:xfrm>
            <a:off x="8429460" y="1461419"/>
            <a:ext cx="3639312" cy="1384995"/>
          </a:xfrm>
          <a:prstGeom prst="rect">
            <a:avLst/>
          </a:prstGeom>
          <a:noFill/>
        </p:spPr>
        <p:txBody>
          <a:bodyPr wrap="square" rtlCol="0">
            <a:spAutoFit/>
          </a:bodyPr>
          <a:lstStyle/>
          <a:p>
            <a:r>
              <a:rPr lang="fr-FR" sz="1200" b="1" dirty="0">
                <a:latin typeface="Arial" panose="020B0604020202020204" pitchFamily="34" charset="0"/>
              </a:rPr>
              <a:t>Rotation stratégique de l’indice</a:t>
            </a:r>
            <a:r>
              <a:rPr lang="fr-FR" sz="1200" dirty="0">
                <a:latin typeface="Arial" panose="020B0604020202020204" pitchFamily="34" charset="0"/>
              </a:rPr>
              <a:t> </a:t>
            </a:r>
            <a:br>
              <a:rPr lang="fr-FR" sz="1200" dirty="0">
                <a:latin typeface="Arial" panose="020B0604020202020204" pitchFamily="34" charset="0"/>
              </a:rPr>
            </a:br>
            <a:r>
              <a:rPr lang="fr-FR" sz="1200" dirty="0">
                <a:latin typeface="Arial" panose="020B0604020202020204" pitchFamily="34" charset="0"/>
              </a:rPr>
              <a:t>Le remplacement d’Intel par NVIDIA et de </a:t>
            </a:r>
            <a:r>
              <a:rPr lang="fr-FR" sz="1200" dirty="0" err="1">
                <a:latin typeface="Arial" panose="020B0604020202020204" pitchFamily="34" charset="0"/>
              </a:rPr>
              <a:t>Walgreens</a:t>
            </a:r>
            <a:r>
              <a:rPr lang="fr-FR" sz="1200" dirty="0">
                <a:latin typeface="Arial" panose="020B0604020202020204" pitchFamily="34" charset="0"/>
              </a:rPr>
              <a:t> par Amazon matérialise une sélection orientée vers la croissance structurelle, la visibilité des cash-flows et l’exposition aux gains de productivité technologique.</a:t>
            </a:r>
          </a:p>
          <a:p>
            <a:endParaRPr lang="en-US" sz="1200" dirty="0">
              <a:latin typeface="Arial" panose="020B0604020202020204" pitchFamily="34" charset="0"/>
            </a:endParaRPr>
          </a:p>
        </p:txBody>
      </p:sp>
      <p:sp>
        <p:nvSpPr>
          <p:cNvPr id="9" name="TextBox 8">
            <a:extLst>
              <a:ext uri="{FF2B5EF4-FFF2-40B4-BE49-F238E27FC236}">
                <a16:creationId xmlns:a16="http://schemas.microsoft.com/office/drawing/2014/main" id="{2D696BCC-7770-BDA2-6D9A-A48E97B4B209}"/>
              </a:ext>
            </a:extLst>
          </p:cNvPr>
          <p:cNvSpPr txBox="1"/>
          <p:nvPr/>
        </p:nvSpPr>
        <p:spPr>
          <a:xfrm>
            <a:off x="6096000" y="287697"/>
            <a:ext cx="11745468" cy="507831"/>
          </a:xfrm>
          <a:prstGeom prst="rect">
            <a:avLst/>
          </a:prstGeom>
          <a:noFill/>
        </p:spPr>
        <p:txBody>
          <a:bodyPr wrap="square" rtlCol="0">
            <a:spAutoFit/>
          </a:bodyPr>
          <a:lstStyle/>
          <a:p>
            <a:r>
              <a:rPr lang="en-US" sz="900" dirty="0" err="1">
                <a:latin typeface="Arial" panose="020B0604020202020204" pitchFamily="34" charset="0"/>
                <a:cs typeface="Arial" panose="020B0604020202020204" pitchFamily="34" charset="0"/>
              </a:rPr>
              <a:t>Évolution</a:t>
            </a:r>
            <a:r>
              <a:rPr lang="en-US" sz="900" dirty="0">
                <a:latin typeface="Arial" panose="020B0604020202020204" pitchFamily="34" charset="0"/>
                <a:cs typeface="Arial" panose="020B0604020202020204" pitchFamily="34" charset="0"/>
              </a:rPr>
              <a:t> du </a:t>
            </a:r>
            <a:r>
              <a:rPr lang="en-US" sz="900" dirty="0" err="1">
                <a:latin typeface="Arial" panose="020B0604020202020204" pitchFamily="34" charset="0"/>
                <a:cs typeface="Arial" panose="020B0604020202020204" pitchFamily="34" charset="0"/>
              </a:rPr>
              <a:t>marché</a:t>
            </a:r>
            <a:r>
              <a:rPr lang="en-US" sz="900" dirty="0">
                <a:latin typeface="Arial" panose="020B0604020202020204" pitchFamily="34" charset="0"/>
                <a:cs typeface="Arial" panose="020B0604020202020204" pitchFamily="34" charset="0"/>
              </a:rPr>
              <a:t> des actions aux États-Unis </a:t>
            </a:r>
            <a:r>
              <a:rPr lang="en-US" sz="900" dirty="0" err="1">
                <a:latin typeface="Arial" panose="020B0604020202020204" pitchFamily="34" charset="0"/>
                <a:cs typeface="Arial" panose="020B0604020202020204" pitchFamily="34" charset="0"/>
              </a:rPr>
              <a:t>depuis</a:t>
            </a:r>
            <a:r>
              <a:rPr lang="en-US" sz="900" dirty="0">
                <a:latin typeface="Arial" panose="020B0604020202020204" pitchFamily="34" charset="0"/>
                <a:cs typeface="Arial" panose="020B0604020202020204" pitchFamily="34" charset="0"/>
              </a:rPr>
              <a:t> 2010 :                                                  </a:t>
            </a:r>
            <a:r>
              <a:rPr lang="en-US" sz="900" dirty="0" err="1">
                <a:latin typeface="Arial" panose="020B0604020202020204" pitchFamily="34" charset="0"/>
              </a:rPr>
              <a:t>Plotnykov</a:t>
            </a:r>
            <a:r>
              <a:rPr lang="en-US" sz="900" dirty="0">
                <a:latin typeface="Arial" panose="020B0604020202020204" pitchFamily="34" charset="0"/>
              </a:rPr>
              <a:t> Andrii</a:t>
            </a:r>
            <a:br>
              <a:rPr lang="en-US" sz="900" dirty="0">
                <a:latin typeface="Arial" panose="020B0604020202020204" pitchFamily="34" charset="0"/>
                <a:cs typeface="Arial" panose="020B0604020202020204" pitchFamily="34" charset="0"/>
              </a:rPr>
            </a:br>
            <a:r>
              <a:rPr lang="en-US" sz="900" dirty="0" err="1">
                <a:latin typeface="Arial" panose="020B0604020202020204" pitchFamily="34" charset="0"/>
                <a:cs typeface="Arial" panose="020B0604020202020204" pitchFamily="34" charset="0"/>
              </a:rPr>
              <a:t>l’exemple</a:t>
            </a:r>
            <a:r>
              <a:rPr lang="en-US" sz="900" dirty="0">
                <a:latin typeface="Arial" panose="020B0604020202020204" pitchFamily="34" charset="0"/>
                <a:cs typeface="Arial" panose="020B0604020202020204" pitchFamily="34" charset="0"/>
              </a:rPr>
              <a:t> de </a:t>
            </a:r>
            <a:r>
              <a:rPr lang="en-US" sz="900" dirty="0" err="1">
                <a:latin typeface="Arial" panose="020B0604020202020204" pitchFamily="34" charset="0"/>
                <a:cs typeface="Arial" panose="020B0604020202020204" pitchFamily="34" charset="0"/>
              </a:rPr>
              <a:t>l’indice</a:t>
            </a:r>
            <a:r>
              <a:rPr lang="en-US" sz="900" dirty="0">
                <a:latin typeface="Arial" panose="020B0604020202020204" pitchFamily="34" charset="0"/>
                <a:cs typeface="Arial" panose="020B0604020202020204" pitchFamily="34" charset="0"/>
              </a:rPr>
              <a:t> Dow Jones Industrial Average. </a:t>
            </a:r>
          </a:p>
          <a:p>
            <a:endParaRPr lang="en-US" sz="900" dirty="0">
              <a:latin typeface="Arial" panose="020B0604020202020204" pitchFamily="34" charset="0"/>
            </a:endParaRPr>
          </a:p>
        </p:txBody>
      </p:sp>
    </p:spTree>
    <p:extLst>
      <p:ext uri="{BB962C8B-B14F-4D97-AF65-F5344CB8AC3E}">
        <p14:creationId xmlns:p14="http://schemas.microsoft.com/office/powerpoint/2010/main" val="199055030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FA692D-FA98-914E-0978-52D03491B927}"/>
              </a:ext>
            </a:extLst>
          </p:cNvPr>
          <p:cNvSpPr>
            <a:spLocks noGrp="1"/>
          </p:cNvSpPr>
          <p:nvPr>
            <p:ph type="title"/>
          </p:nvPr>
        </p:nvSpPr>
        <p:spPr>
          <a:xfrm>
            <a:off x="4105656" y="541612"/>
            <a:ext cx="3980688" cy="1325563"/>
          </a:xfrm>
        </p:spPr>
        <p:txBody>
          <a:bodyPr>
            <a:normAutofit/>
          </a:bodyPr>
          <a:lstStyle/>
          <a:p>
            <a:r>
              <a:rPr lang="fr-FR" sz="1600" b="1" dirty="0">
                <a:latin typeface="Arial" panose="020B0604020202020204" pitchFamily="34" charset="0"/>
                <a:cs typeface="Arial" panose="020B0604020202020204" pitchFamily="34" charset="0"/>
              </a:rPr>
              <a:t>Mise en perspective et conclusion</a:t>
            </a:r>
            <a:endParaRPr lang="en-US" sz="1600" b="1" dirty="0">
              <a:latin typeface="Arial" panose="020B0604020202020204" pitchFamily="34" charset="0"/>
              <a:cs typeface="Arial" panose="020B0604020202020204" pitchFamily="34" charset="0"/>
            </a:endParaRPr>
          </a:p>
        </p:txBody>
      </p:sp>
      <p:sp>
        <p:nvSpPr>
          <p:cNvPr id="3" name="Content Placeholder 2">
            <a:extLst>
              <a:ext uri="{FF2B5EF4-FFF2-40B4-BE49-F238E27FC236}">
                <a16:creationId xmlns:a16="http://schemas.microsoft.com/office/drawing/2014/main" id="{6ED2DBAA-205D-9F47-C842-95CB2E0FE3BB}"/>
              </a:ext>
            </a:extLst>
          </p:cNvPr>
          <p:cNvSpPr>
            <a:spLocks noGrp="1"/>
          </p:cNvSpPr>
          <p:nvPr>
            <p:ph idx="1"/>
          </p:nvPr>
        </p:nvSpPr>
        <p:spPr>
          <a:xfrm>
            <a:off x="2459736" y="1739900"/>
            <a:ext cx="7272528" cy="4351338"/>
          </a:xfrm>
        </p:spPr>
        <p:txBody>
          <a:bodyPr>
            <a:normAutofit/>
          </a:bodyPr>
          <a:lstStyle/>
          <a:p>
            <a:r>
              <a:rPr lang="fr-FR" sz="1200" b="1" dirty="0"/>
              <a:t>Mutation structurelle du capitalisme américain</a:t>
            </a:r>
            <a:r>
              <a:rPr lang="fr-FR" sz="1200" dirty="0"/>
              <a:t> - L’indice illustre la transition d’un modèle industriel vers un modèle basé sur les services à forte valeur ajoutée, où la croissance économique est captée par les entreprises capables de générer des marges élevées et des flux de trésorerie récurrents.</a:t>
            </a:r>
          </a:p>
          <a:p>
            <a:r>
              <a:rPr lang="fr-FR" sz="1200" b="1" dirty="0"/>
              <a:t>Transformation de la production vers la donnée et l’innovation</a:t>
            </a:r>
            <a:r>
              <a:rPr lang="fr-FR" sz="1200" dirty="0"/>
              <a:t> - Les composants technologiques dominants exploitent l’intelligence artificielle, le cloud </a:t>
            </a:r>
            <a:r>
              <a:rPr lang="fr-FR" sz="1200" dirty="0" err="1"/>
              <a:t>computing</a:t>
            </a:r>
            <a:r>
              <a:rPr lang="fr-FR" sz="1200" dirty="0"/>
              <a:t> et l’automatisation industrielle pour internaliser les gains de productivité et créer des barrières à l’entrée, redéfinissant la hiérarchie sectorielle au sein du Dow.</a:t>
            </a:r>
          </a:p>
          <a:p>
            <a:r>
              <a:rPr lang="fr-FR" sz="1200" b="1" dirty="0"/>
              <a:t>Identité hybride du Dow Jones</a:t>
            </a:r>
            <a:r>
              <a:rPr lang="fr-FR" sz="1200" dirty="0"/>
              <a:t> - L’indice conserve son rôle historique de baromètre « </a:t>
            </a:r>
            <a:r>
              <a:rPr lang="fr-FR" sz="1200" dirty="0" err="1"/>
              <a:t>blue</a:t>
            </a:r>
            <a:r>
              <a:rPr lang="fr-FR" sz="1200" dirty="0"/>
              <a:t>-chip » des valeurs établies, tout en intégrant des entreprises à forte croissance technologique ; cette double fonction permet d’équilibrer stabilité et potentiel de rendement supérieur dans l’allocation sectorielle.</a:t>
            </a:r>
          </a:p>
          <a:p>
            <a:r>
              <a:rPr lang="fr-FR" sz="1200" b="1" dirty="0"/>
              <a:t>Performance solide et résiliente</a:t>
            </a:r>
            <a:r>
              <a:rPr lang="fr-FR" sz="1200" dirty="0"/>
              <a:t> - Le rendement annuel de 12,97 % en 2025 reflète non seulement la dynamique monétaire et fiscale favorable, mais également l’effet structurel des investissements massifs dans l’IA, les plateformes cloud et les chaînes de valeur numériques, démontrant que la hausse du DJIA repose sur la création réelle de valeur.</a:t>
            </a:r>
          </a:p>
          <a:p>
            <a:r>
              <a:rPr lang="fr-FR" sz="1200" b="1" dirty="0"/>
              <a:t>Limites méthodologiques et représentativité</a:t>
            </a:r>
            <a:r>
              <a:rPr lang="fr-FR" sz="1200" dirty="0"/>
              <a:t> - La pondération </a:t>
            </a:r>
            <a:r>
              <a:rPr lang="fr-FR" sz="1200" dirty="0" err="1"/>
              <a:t>price-weighted</a:t>
            </a:r>
            <a:r>
              <a:rPr lang="fr-FR" sz="1200" dirty="0"/>
              <a:t> privilégie les titres à cours élevés au détriment des plus grandes capitalisations par valeur de marché, ce qui limite la représentativité complète de l’économie américaine et peut amplifier la volatilité liée à des mouvements isolés de méga-capitalisations.</a:t>
            </a:r>
          </a:p>
          <a:p>
            <a:pPr marL="0" indent="0">
              <a:buNone/>
            </a:pPr>
            <a:r>
              <a:rPr lang="fr-FR" sz="1200" dirty="0"/>
              <a:t>	L’évolution du Dow illustre la nécessité pour les investisseurs de combiner analyse sectorielle, suivi des innovations technologiques et compréhension des cycles monétaires afin de mesurer la durabilité de la performance et d’identifier les entreprises structurantes de long terme.</a:t>
            </a:r>
          </a:p>
          <a:p>
            <a:pPr marL="0" indent="0">
              <a:buNone/>
            </a:pPr>
            <a:endParaRPr lang="en-US" sz="1200" dirty="0">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595D9CDC-B85C-1846-0DA7-0A6D90B81834}"/>
              </a:ext>
            </a:extLst>
          </p:cNvPr>
          <p:cNvSpPr>
            <a:spLocks noGrp="1"/>
          </p:cNvSpPr>
          <p:nvPr>
            <p:ph type="sldNum" sz="quarter" idx="12"/>
          </p:nvPr>
        </p:nvSpPr>
        <p:spPr/>
        <p:txBody>
          <a:bodyPr/>
          <a:lstStyle/>
          <a:p>
            <a:fld id="{C2BC48A5-4F43-4573-99E8-824F842D28E4}" type="slidenum">
              <a:rPr lang="en-US" smtClean="0"/>
              <a:t>5</a:t>
            </a:fld>
            <a:endParaRPr lang="en-US"/>
          </a:p>
        </p:txBody>
      </p:sp>
      <p:sp>
        <p:nvSpPr>
          <p:cNvPr id="5" name="TextBox 4">
            <a:extLst>
              <a:ext uri="{FF2B5EF4-FFF2-40B4-BE49-F238E27FC236}">
                <a16:creationId xmlns:a16="http://schemas.microsoft.com/office/drawing/2014/main" id="{6BC638C3-B0A5-87AA-03FB-1155CE028AC4}"/>
              </a:ext>
            </a:extLst>
          </p:cNvPr>
          <p:cNvSpPr txBox="1"/>
          <p:nvPr/>
        </p:nvSpPr>
        <p:spPr>
          <a:xfrm>
            <a:off x="6096000" y="287697"/>
            <a:ext cx="11745468" cy="507831"/>
          </a:xfrm>
          <a:prstGeom prst="rect">
            <a:avLst/>
          </a:prstGeom>
          <a:noFill/>
        </p:spPr>
        <p:txBody>
          <a:bodyPr wrap="square" rtlCol="0">
            <a:spAutoFit/>
          </a:bodyPr>
          <a:lstStyle/>
          <a:p>
            <a:r>
              <a:rPr lang="en-US" sz="900" dirty="0" err="1">
                <a:latin typeface="Arial" panose="020B0604020202020204" pitchFamily="34" charset="0"/>
                <a:cs typeface="Arial" panose="020B0604020202020204" pitchFamily="34" charset="0"/>
              </a:rPr>
              <a:t>Évolution</a:t>
            </a:r>
            <a:r>
              <a:rPr lang="en-US" sz="900" dirty="0">
                <a:latin typeface="Arial" panose="020B0604020202020204" pitchFamily="34" charset="0"/>
                <a:cs typeface="Arial" panose="020B0604020202020204" pitchFamily="34" charset="0"/>
              </a:rPr>
              <a:t> du </a:t>
            </a:r>
            <a:r>
              <a:rPr lang="en-US" sz="900" dirty="0" err="1">
                <a:latin typeface="Arial" panose="020B0604020202020204" pitchFamily="34" charset="0"/>
                <a:cs typeface="Arial" panose="020B0604020202020204" pitchFamily="34" charset="0"/>
              </a:rPr>
              <a:t>marché</a:t>
            </a:r>
            <a:r>
              <a:rPr lang="en-US" sz="900" dirty="0">
                <a:latin typeface="Arial" panose="020B0604020202020204" pitchFamily="34" charset="0"/>
                <a:cs typeface="Arial" panose="020B0604020202020204" pitchFamily="34" charset="0"/>
              </a:rPr>
              <a:t> des actions aux États-Unis </a:t>
            </a:r>
            <a:r>
              <a:rPr lang="en-US" sz="900" dirty="0" err="1">
                <a:latin typeface="Arial" panose="020B0604020202020204" pitchFamily="34" charset="0"/>
                <a:cs typeface="Arial" panose="020B0604020202020204" pitchFamily="34" charset="0"/>
              </a:rPr>
              <a:t>depuis</a:t>
            </a:r>
            <a:r>
              <a:rPr lang="en-US" sz="900" dirty="0">
                <a:latin typeface="Arial" panose="020B0604020202020204" pitchFamily="34" charset="0"/>
                <a:cs typeface="Arial" panose="020B0604020202020204" pitchFamily="34" charset="0"/>
              </a:rPr>
              <a:t> 2010 :                                                  </a:t>
            </a:r>
            <a:r>
              <a:rPr lang="en-US" sz="900" dirty="0" err="1">
                <a:latin typeface="Arial" panose="020B0604020202020204" pitchFamily="34" charset="0"/>
              </a:rPr>
              <a:t>Plotnykov</a:t>
            </a:r>
            <a:r>
              <a:rPr lang="en-US" sz="900" dirty="0">
                <a:latin typeface="Arial" panose="020B0604020202020204" pitchFamily="34" charset="0"/>
              </a:rPr>
              <a:t> Andrii</a:t>
            </a:r>
            <a:br>
              <a:rPr lang="en-US" sz="900" dirty="0">
                <a:latin typeface="Arial" panose="020B0604020202020204" pitchFamily="34" charset="0"/>
                <a:cs typeface="Arial" panose="020B0604020202020204" pitchFamily="34" charset="0"/>
              </a:rPr>
            </a:br>
            <a:r>
              <a:rPr lang="en-US" sz="900" dirty="0" err="1">
                <a:latin typeface="Arial" panose="020B0604020202020204" pitchFamily="34" charset="0"/>
                <a:cs typeface="Arial" panose="020B0604020202020204" pitchFamily="34" charset="0"/>
              </a:rPr>
              <a:t>l’exemple</a:t>
            </a:r>
            <a:r>
              <a:rPr lang="en-US" sz="900" dirty="0">
                <a:latin typeface="Arial" panose="020B0604020202020204" pitchFamily="34" charset="0"/>
                <a:cs typeface="Arial" panose="020B0604020202020204" pitchFamily="34" charset="0"/>
              </a:rPr>
              <a:t> de </a:t>
            </a:r>
            <a:r>
              <a:rPr lang="en-US" sz="900" dirty="0" err="1">
                <a:latin typeface="Arial" panose="020B0604020202020204" pitchFamily="34" charset="0"/>
                <a:cs typeface="Arial" panose="020B0604020202020204" pitchFamily="34" charset="0"/>
              </a:rPr>
              <a:t>l’indice</a:t>
            </a:r>
            <a:r>
              <a:rPr lang="en-US" sz="900" dirty="0">
                <a:latin typeface="Arial" panose="020B0604020202020204" pitchFamily="34" charset="0"/>
                <a:cs typeface="Arial" panose="020B0604020202020204" pitchFamily="34" charset="0"/>
              </a:rPr>
              <a:t> Dow Jones Industrial Average. </a:t>
            </a:r>
          </a:p>
          <a:p>
            <a:endParaRPr lang="en-US" sz="900" dirty="0">
              <a:latin typeface="Arial" panose="020B0604020202020204" pitchFamily="34" charset="0"/>
            </a:endParaRPr>
          </a:p>
        </p:txBody>
      </p:sp>
    </p:spTree>
    <p:extLst>
      <p:ext uri="{BB962C8B-B14F-4D97-AF65-F5344CB8AC3E}">
        <p14:creationId xmlns:p14="http://schemas.microsoft.com/office/powerpoint/2010/main" val="27188144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5834A2-C75B-B783-3D56-C5550F4CFA84}"/>
              </a:ext>
            </a:extLst>
          </p:cNvPr>
          <p:cNvSpPr>
            <a:spLocks noGrp="1"/>
          </p:cNvSpPr>
          <p:nvPr>
            <p:ph type="title"/>
          </p:nvPr>
        </p:nvSpPr>
        <p:spPr>
          <a:xfrm>
            <a:off x="5291136" y="134143"/>
            <a:ext cx="1609725" cy="1325563"/>
          </a:xfrm>
        </p:spPr>
        <p:txBody>
          <a:bodyPr>
            <a:normAutofit/>
          </a:bodyPr>
          <a:lstStyle/>
          <a:p>
            <a:r>
              <a:rPr lang="en-US" sz="1600" b="1" dirty="0" err="1">
                <a:latin typeface="Arial" panose="020B0604020202020204" pitchFamily="34" charset="0"/>
                <a:cs typeface="Arial" panose="020B0604020202020204" pitchFamily="34" charset="0"/>
              </a:rPr>
              <a:t>Bibliographie</a:t>
            </a:r>
            <a:endParaRPr lang="en-US" sz="1600" b="1" dirty="0">
              <a:latin typeface="Arial" panose="020B0604020202020204" pitchFamily="34" charset="0"/>
              <a:cs typeface="Arial" panose="020B0604020202020204" pitchFamily="34" charset="0"/>
            </a:endParaRPr>
          </a:p>
        </p:txBody>
      </p:sp>
      <p:sp>
        <p:nvSpPr>
          <p:cNvPr id="3" name="Content Placeholder 2">
            <a:extLst>
              <a:ext uri="{FF2B5EF4-FFF2-40B4-BE49-F238E27FC236}">
                <a16:creationId xmlns:a16="http://schemas.microsoft.com/office/drawing/2014/main" id="{4BB351A6-9FC5-0A75-461B-83B1F3D9E816}"/>
              </a:ext>
            </a:extLst>
          </p:cNvPr>
          <p:cNvSpPr>
            <a:spLocks noGrp="1"/>
          </p:cNvSpPr>
          <p:nvPr>
            <p:ph idx="1"/>
          </p:nvPr>
        </p:nvSpPr>
        <p:spPr>
          <a:xfrm>
            <a:off x="1788604" y="1210310"/>
            <a:ext cx="8614791" cy="4850765"/>
          </a:xfrm>
        </p:spPr>
        <p:txBody>
          <a:bodyPr>
            <a:noAutofit/>
          </a:bodyPr>
          <a:lstStyle/>
          <a:p>
            <a:pPr marL="0" indent="0">
              <a:buNone/>
            </a:pPr>
            <a:r>
              <a:rPr lang="en-US" sz="1200" dirty="0">
                <a:latin typeface="Arial" panose="020B0604020202020204" pitchFamily="34" charset="0"/>
                <a:cs typeface="Arial" panose="020B0604020202020204" pitchFamily="34" charset="0"/>
              </a:rPr>
              <a:t>Données de Marché et Indices (Indices de </a:t>
            </a:r>
            <a:r>
              <a:rPr lang="en-US" sz="1200" dirty="0" err="1">
                <a:latin typeface="Arial" panose="020B0604020202020204" pitchFamily="34" charset="0"/>
                <a:cs typeface="Arial" panose="020B0604020202020204" pitchFamily="34" charset="0"/>
              </a:rPr>
              <a:t>Référence</a:t>
            </a:r>
            <a:r>
              <a:rPr lang="en-US" sz="1200" dirty="0">
                <a:latin typeface="Arial" panose="020B0604020202020204" pitchFamily="34" charset="0"/>
                <a:cs typeface="Arial" panose="020B0604020202020204" pitchFamily="34" charset="0"/>
              </a:rPr>
              <a:t>)</a:t>
            </a:r>
          </a:p>
          <a:p>
            <a:pPr marL="0" indent="0">
              <a:buNone/>
            </a:pPr>
            <a:r>
              <a:rPr lang="en-US" sz="900" dirty="0">
                <a:latin typeface="Arial" panose="020B0604020202020204" pitchFamily="34" charset="0"/>
                <a:cs typeface="Arial" panose="020B0604020202020204" pitchFamily="34" charset="0"/>
              </a:rPr>
              <a:t>S&amp;P Dow Jones Indices (2026). </a:t>
            </a:r>
            <a:r>
              <a:rPr lang="en-US" sz="900" i="1" dirty="0">
                <a:latin typeface="Arial" panose="020B0604020202020204" pitchFamily="34" charset="0"/>
                <a:cs typeface="Arial" panose="020B0604020202020204" pitchFamily="34" charset="0"/>
              </a:rPr>
              <a:t>DJIA Factsheet: Methodology and Fundamental Data</a:t>
            </a:r>
            <a:r>
              <a:rPr lang="en-US" sz="900" dirty="0">
                <a:latin typeface="Arial" panose="020B0604020202020204" pitchFamily="34" charset="0"/>
                <a:cs typeface="Arial" panose="020B0604020202020204" pitchFamily="34" charset="0"/>
              </a:rPr>
              <a:t>. S&amp;P Global. </a:t>
            </a:r>
            <a:r>
              <a:rPr lang="en-US" sz="900" dirty="0" err="1">
                <a:latin typeface="Arial" panose="020B0604020202020204" pitchFamily="34" charset="0"/>
                <a:cs typeface="Arial" panose="020B0604020202020204" pitchFamily="34" charset="0"/>
              </a:rPr>
              <a:t>Consulté</a:t>
            </a:r>
            <a:r>
              <a:rPr lang="en-US" sz="900" dirty="0">
                <a:latin typeface="Arial" panose="020B0604020202020204" pitchFamily="34" charset="0"/>
                <a:cs typeface="Arial" panose="020B0604020202020204" pitchFamily="34" charset="0"/>
              </a:rPr>
              <a:t> </a:t>
            </a:r>
            <a:r>
              <a:rPr lang="en-US" sz="900" dirty="0" err="1">
                <a:latin typeface="Arial" panose="020B0604020202020204" pitchFamily="34" charset="0"/>
                <a:cs typeface="Arial" panose="020B0604020202020204" pitchFamily="34" charset="0"/>
              </a:rPr>
              <a:t>en</a:t>
            </a:r>
            <a:r>
              <a:rPr lang="en-US" sz="900" dirty="0">
                <a:latin typeface="Arial" panose="020B0604020202020204" pitchFamily="34" charset="0"/>
                <a:cs typeface="Arial" panose="020B0604020202020204" pitchFamily="34" charset="0"/>
              </a:rPr>
              <a:t> </a:t>
            </a:r>
            <a:r>
              <a:rPr lang="en-US" sz="900" dirty="0" err="1">
                <a:latin typeface="Arial" panose="020B0604020202020204" pitchFamily="34" charset="0"/>
                <a:cs typeface="Arial" panose="020B0604020202020204" pitchFamily="34" charset="0"/>
              </a:rPr>
              <a:t>janvier</a:t>
            </a:r>
            <a:r>
              <a:rPr lang="en-US" sz="900" dirty="0">
                <a:latin typeface="Arial" panose="020B0604020202020204" pitchFamily="34" charset="0"/>
                <a:cs typeface="Arial" panose="020B0604020202020204" pitchFamily="34" charset="0"/>
              </a:rPr>
              <a:t> 2026 sur </a:t>
            </a:r>
            <a:r>
              <a:rPr lang="en-US" sz="900" dirty="0">
                <a:latin typeface="Arial" panose="020B0604020202020204" pitchFamily="34" charset="0"/>
                <a:cs typeface="Arial" panose="020B0604020202020204" pitchFamily="34" charset="0"/>
                <a:hlinkClick r:id="rId2"/>
              </a:rPr>
              <a:t>spglobal.com</a:t>
            </a:r>
            <a:endParaRPr lang="en-US" sz="900" dirty="0">
              <a:latin typeface="Arial" panose="020B0604020202020204" pitchFamily="34" charset="0"/>
              <a:cs typeface="Arial" panose="020B0604020202020204" pitchFamily="34" charset="0"/>
            </a:endParaRPr>
          </a:p>
          <a:p>
            <a:pPr marL="0" indent="0">
              <a:buNone/>
            </a:pPr>
            <a:r>
              <a:rPr lang="en-US" sz="900" dirty="0">
                <a:latin typeface="Arial" panose="020B0604020202020204" pitchFamily="34" charset="0"/>
                <a:cs typeface="Arial" panose="020B0604020202020204" pitchFamily="34" charset="0"/>
              </a:rPr>
              <a:t>Investing.com (2026). </a:t>
            </a:r>
            <a:r>
              <a:rPr lang="en-US" sz="900" i="1" dirty="0">
                <a:latin typeface="Arial" panose="020B0604020202020204" pitchFamily="34" charset="0"/>
                <a:cs typeface="Arial" panose="020B0604020202020204" pitchFamily="34" charset="0"/>
              </a:rPr>
              <a:t>Dow Jones Industrial Average (DJI) Historical Data &amp; Components</a:t>
            </a:r>
            <a:r>
              <a:rPr lang="en-US" sz="900" dirty="0">
                <a:latin typeface="Arial" panose="020B0604020202020204" pitchFamily="34" charset="0"/>
                <a:cs typeface="Arial" panose="020B0604020202020204" pitchFamily="34" charset="0"/>
              </a:rPr>
              <a:t>. </a:t>
            </a:r>
            <a:r>
              <a:rPr lang="en-US" sz="900" dirty="0" err="1">
                <a:latin typeface="Arial" panose="020B0604020202020204" pitchFamily="34" charset="0"/>
                <a:cs typeface="Arial" panose="020B0604020202020204" pitchFamily="34" charset="0"/>
              </a:rPr>
              <a:t>Consulté</a:t>
            </a:r>
            <a:r>
              <a:rPr lang="en-US" sz="900" dirty="0">
                <a:latin typeface="Arial" panose="020B0604020202020204" pitchFamily="34" charset="0"/>
                <a:cs typeface="Arial" panose="020B0604020202020204" pitchFamily="34" charset="0"/>
              </a:rPr>
              <a:t> </a:t>
            </a:r>
            <a:r>
              <a:rPr lang="en-US" sz="900" dirty="0" err="1">
                <a:latin typeface="Arial" panose="020B0604020202020204" pitchFamily="34" charset="0"/>
                <a:cs typeface="Arial" panose="020B0604020202020204" pitchFamily="34" charset="0"/>
              </a:rPr>
              <a:t>en</a:t>
            </a:r>
            <a:r>
              <a:rPr lang="en-US" sz="900" dirty="0">
                <a:latin typeface="Arial" panose="020B0604020202020204" pitchFamily="34" charset="0"/>
                <a:cs typeface="Arial" panose="020B0604020202020204" pitchFamily="34" charset="0"/>
              </a:rPr>
              <a:t> </a:t>
            </a:r>
            <a:r>
              <a:rPr lang="en-US" sz="900" dirty="0" err="1">
                <a:latin typeface="Arial" panose="020B0604020202020204" pitchFamily="34" charset="0"/>
                <a:cs typeface="Arial" panose="020B0604020202020204" pitchFamily="34" charset="0"/>
              </a:rPr>
              <a:t>janvier</a:t>
            </a:r>
            <a:r>
              <a:rPr lang="en-US" sz="900" dirty="0">
                <a:latin typeface="Arial" panose="020B0604020202020204" pitchFamily="34" charset="0"/>
                <a:cs typeface="Arial" panose="020B0604020202020204" pitchFamily="34" charset="0"/>
              </a:rPr>
              <a:t> 2026 sur </a:t>
            </a:r>
            <a:r>
              <a:rPr lang="en-US" sz="900" dirty="0">
                <a:latin typeface="Arial" panose="020B0604020202020204" pitchFamily="34" charset="0"/>
                <a:cs typeface="Arial" panose="020B0604020202020204" pitchFamily="34" charset="0"/>
                <a:hlinkClick r:id="rId3"/>
              </a:rPr>
              <a:t>investing.com</a:t>
            </a:r>
            <a:endParaRPr lang="en-US" sz="900" dirty="0">
              <a:latin typeface="Arial" panose="020B0604020202020204" pitchFamily="34" charset="0"/>
              <a:cs typeface="Arial" panose="020B0604020202020204" pitchFamily="34" charset="0"/>
            </a:endParaRPr>
          </a:p>
          <a:p>
            <a:pPr marL="0" indent="0">
              <a:buNone/>
            </a:pPr>
            <a:r>
              <a:rPr lang="en-US" sz="900" dirty="0">
                <a:latin typeface="Arial" panose="020B0604020202020204" pitchFamily="34" charset="0"/>
                <a:cs typeface="Arial" panose="020B0604020202020204" pitchFamily="34" charset="0"/>
              </a:rPr>
              <a:t>DOW 30 Proprietary Dataset (2026). </a:t>
            </a:r>
            <a:r>
              <a:rPr lang="en-US" sz="900" i="1" dirty="0" err="1">
                <a:latin typeface="Arial" panose="020B0604020202020204" pitchFamily="34" charset="0"/>
                <a:cs typeface="Arial" panose="020B0604020202020204" pitchFamily="34" charset="0"/>
              </a:rPr>
              <a:t>Fichier</a:t>
            </a:r>
            <a:r>
              <a:rPr lang="en-US" sz="900" i="1" dirty="0">
                <a:latin typeface="Arial" panose="020B0604020202020204" pitchFamily="34" charset="0"/>
                <a:cs typeface="Arial" panose="020B0604020202020204" pitchFamily="34" charset="0"/>
              </a:rPr>
              <a:t> Excel interne : Performance </a:t>
            </a:r>
            <a:r>
              <a:rPr lang="en-US" sz="900" i="1" dirty="0" err="1">
                <a:latin typeface="Arial" panose="020B0604020202020204" pitchFamily="34" charset="0"/>
                <a:cs typeface="Arial" panose="020B0604020202020204" pitchFamily="34" charset="0"/>
              </a:rPr>
              <a:t>Historique</a:t>
            </a:r>
            <a:r>
              <a:rPr lang="en-US" sz="900" i="1" dirty="0">
                <a:latin typeface="Arial" panose="020B0604020202020204" pitchFamily="34" charset="0"/>
                <a:cs typeface="Arial" panose="020B0604020202020204" pitchFamily="34" charset="0"/>
              </a:rPr>
              <a:t> et </a:t>
            </a:r>
            <a:r>
              <a:rPr lang="en-US" sz="900" i="1" dirty="0" err="1">
                <a:latin typeface="Arial" panose="020B0604020202020204" pitchFamily="34" charset="0"/>
                <a:cs typeface="Arial" panose="020B0604020202020204" pitchFamily="34" charset="0"/>
              </a:rPr>
              <a:t>Sectorielle</a:t>
            </a:r>
            <a:r>
              <a:rPr lang="en-US" sz="900" i="1" dirty="0">
                <a:latin typeface="Arial" panose="020B0604020202020204" pitchFamily="34" charset="0"/>
                <a:cs typeface="Arial" panose="020B0604020202020204" pitchFamily="34" charset="0"/>
              </a:rPr>
              <a:t> (2010–2026)</a:t>
            </a:r>
            <a:r>
              <a:rPr lang="en-US" sz="900" dirty="0">
                <a:latin typeface="Arial" panose="020B0604020202020204" pitchFamily="34" charset="0"/>
                <a:cs typeface="Arial" panose="020B0604020202020204" pitchFamily="34" charset="0"/>
              </a:rPr>
              <a:t>. Données </a:t>
            </a:r>
            <a:r>
              <a:rPr lang="en-US" sz="900" dirty="0" err="1">
                <a:latin typeface="Arial" panose="020B0604020202020204" pitchFamily="34" charset="0"/>
                <a:cs typeface="Arial" panose="020B0604020202020204" pitchFamily="34" charset="0"/>
              </a:rPr>
              <a:t>consolidées</a:t>
            </a:r>
            <a:r>
              <a:rPr lang="en-US" sz="900" dirty="0">
                <a:latin typeface="Arial" panose="020B0604020202020204" pitchFamily="34" charset="0"/>
                <a:cs typeface="Arial" panose="020B0604020202020204" pitchFamily="34" charset="0"/>
              </a:rPr>
              <a:t> via S&amp;P Dow Jones Indices.</a:t>
            </a:r>
          </a:p>
          <a:p>
            <a:pPr marL="0" indent="0">
              <a:buNone/>
            </a:pPr>
            <a:r>
              <a:rPr lang="en-US" sz="1200" dirty="0">
                <a:latin typeface="Arial" panose="020B0604020202020204" pitchFamily="34" charset="0"/>
                <a:cs typeface="Arial" panose="020B0604020202020204" pitchFamily="34" charset="0"/>
              </a:rPr>
              <a:t>Rapports de Recherche et Analyses </a:t>
            </a:r>
            <a:r>
              <a:rPr lang="en-US" sz="1200" dirty="0" err="1">
                <a:latin typeface="Arial" panose="020B0604020202020204" pitchFamily="34" charset="0"/>
                <a:cs typeface="Arial" panose="020B0604020202020204" pitchFamily="34" charset="0"/>
              </a:rPr>
              <a:t>Économiques</a:t>
            </a:r>
            <a:endParaRPr lang="en-US" sz="1200" dirty="0">
              <a:latin typeface="Arial" panose="020B0604020202020204" pitchFamily="34" charset="0"/>
              <a:cs typeface="Arial" panose="020B0604020202020204" pitchFamily="34" charset="0"/>
            </a:endParaRPr>
          </a:p>
          <a:p>
            <a:pPr marL="0" indent="0">
              <a:buNone/>
            </a:pPr>
            <a:r>
              <a:rPr lang="en-US" sz="900" dirty="0">
                <a:latin typeface="Arial" panose="020B0604020202020204" pitchFamily="34" charset="0"/>
                <a:cs typeface="Arial" panose="020B0604020202020204" pitchFamily="34" charset="0"/>
              </a:rPr>
              <a:t>Bogdanova, K. / RBC Wealth Management (2026). </a:t>
            </a:r>
            <a:r>
              <a:rPr lang="en-US" sz="900" i="1" dirty="0">
                <a:latin typeface="Arial" panose="020B0604020202020204" pitchFamily="34" charset="0"/>
                <a:cs typeface="Arial" panose="020B0604020202020204" pitchFamily="34" charset="0"/>
              </a:rPr>
              <a:t>U.S. Equity Returns in 2025: A Retrospective</a:t>
            </a:r>
            <a:r>
              <a:rPr lang="en-US" sz="900" dirty="0">
                <a:latin typeface="Arial" panose="020B0604020202020204" pitchFamily="34" charset="0"/>
                <a:cs typeface="Arial" panose="020B0604020202020204" pitchFamily="34" charset="0"/>
              </a:rPr>
              <a:t>. </a:t>
            </a:r>
            <a:r>
              <a:rPr lang="en-US" sz="900" dirty="0" err="1">
                <a:latin typeface="Arial" panose="020B0604020202020204" pitchFamily="34" charset="0"/>
                <a:cs typeface="Arial" panose="020B0604020202020204" pitchFamily="34" charset="0"/>
              </a:rPr>
              <a:t>Consulté</a:t>
            </a:r>
            <a:r>
              <a:rPr lang="en-US" sz="900" dirty="0">
                <a:latin typeface="Arial" panose="020B0604020202020204" pitchFamily="34" charset="0"/>
                <a:cs typeface="Arial" panose="020B0604020202020204" pitchFamily="34" charset="0"/>
              </a:rPr>
              <a:t> sur </a:t>
            </a:r>
            <a:r>
              <a:rPr lang="en-US" sz="900" dirty="0">
                <a:latin typeface="Arial" panose="020B0604020202020204" pitchFamily="34" charset="0"/>
                <a:cs typeface="Arial" panose="020B0604020202020204" pitchFamily="34" charset="0"/>
                <a:hlinkClick r:id="rId4"/>
              </a:rPr>
              <a:t>rbcwealthmanagement.com</a:t>
            </a:r>
            <a:endParaRPr lang="en-US" sz="900" dirty="0">
              <a:latin typeface="Arial" panose="020B0604020202020204" pitchFamily="34" charset="0"/>
              <a:cs typeface="Arial" panose="020B0604020202020204" pitchFamily="34" charset="0"/>
            </a:endParaRPr>
          </a:p>
          <a:p>
            <a:pPr marL="0" indent="0">
              <a:buNone/>
            </a:pPr>
            <a:r>
              <a:rPr lang="en-US" sz="900" dirty="0">
                <a:latin typeface="Arial" panose="020B0604020202020204" pitchFamily="34" charset="0"/>
                <a:cs typeface="Arial" panose="020B0604020202020204" pitchFamily="34" charset="0"/>
              </a:rPr>
              <a:t>Charles Schwab &amp; Co. (2025). </a:t>
            </a:r>
            <a:r>
              <a:rPr lang="en-US" sz="900" i="1" dirty="0">
                <a:latin typeface="Arial" panose="020B0604020202020204" pitchFamily="34" charset="0"/>
                <a:cs typeface="Arial" panose="020B0604020202020204" pitchFamily="34" charset="0"/>
              </a:rPr>
              <a:t>2026 Outlook: U.S. Stocks and Economy</a:t>
            </a:r>
            <a:r>
              <a:rPr lang="en-US" sz="900" dirty="0">
                <a:latin typeface="Arial" panose="020B0604020202020204" pitchFamily="34" charset="0"/>
                <a:cs typeface="Arial" panose="020B0604020202020204" pitchFamily="34" charset="0"/>
              </a:rPr>
              <a:t>. </a:t>
            </a:r>
            <a:r>
              <a:rPr lang="en-US" sz="900" dirty="0" err="1">
                <a:latin typeface="Arial" panose="020B0604020202020204" pitchFamily="34" charset="0"/>
                <a:cs typeface="Arial" panose="020B0604020202020204" pitchFamily="34" charset="0"/>
              </a:rPr>
              <a:t>Consulté</a:t>
            </a:r>
            <a:r>
              <a:rPr lang="en-US" sz="900" dirty="0">
                <a:latin typeface="Arial" panose="020B0604020202020204" pitchFamily="34" charset="0"/>
                <a:cs typeface="Arial" panose="020B0604020202020204" pitchFamily="34" charset="0"/>
              </a:rPr>
              <a:t> sur </a:t>
            </a:r>
            <a:r>
              <a:rPr lang="en-US" sz="900" dirty="0">
                <a:latin typeface="Arial" panose="020B0604020202020204" pitchFamily="34" charset="0"/>
                <a:cs typeface="Arial" panose="020B0604020202020204" pitchFamily="34" charset="0"/>
                <a:hlinkClick r:id="rId5"/>
              </a:rPr>
              <a:t>schwab.com</a:t>
            </a:r>
            <a:endParaRPr lang="en-US" sz="900" dirty="0">
              <a:latin typeface="Arial" panose="020B0604020202020204" pitchFamily="34" charset="0"/>
              <a:cs typeface="Arial" panose="020B0604020202020204" pitchFamily="34" charset="0"/>
            </a:endParaRPr>
          </a:p>
          <a:p>
            <a:pPr marL="0" indent="0">
              <a:buNone/>
            </a:pPr>
            <a:r>
              <a:rPr lang="en-US" sz="900" dirty="0">
                <a:latin typeface="Arial" panose="020B0604020202020204" pitchFamily="34" charset="0"/>
                <a:cs typeface="Arial" panose="020B0604020202020204" pitchFamily="34" charset="0"/>
              </a:rPr>
              <a:t>Vanguard Investment Strategy Group (2025). </a:t>
            </a:r>
            <a:r>
              <a:rPr lang="en-US" sz="900" i="1" dirty="0">
                <a:latin typeface="Arial" panose="020B0604020202020204" pitchFamily="34" charset="0"/>
                <a:cs typeface="Arial" panose="020B0604020202020204" pitchFamily="34" charset="0"/>
              </a:rPr>
              <a:t>AI Exuberance: Economic Upside, Stock Market Downside</a:t>
            </a:r>
            <a:r>
              <a:rPr lang="en-US" sz="900" dirty="0">
                <a:latin typeface="Arial" panose="020B0604020202020204" pitchFamily="34" charset="0"/>
                <a:cs typeface="Arial" panose="020B0604020202020204" pitchFamily="34" charset="0"/>
              </a:rPr>
              <a:t>. </a:t>
            </a:r>
            <a:r>
              <a:rPr lang="en-US" sz="900" dirty="0" err="1">
                <a:latin typeface="Arial" panose="020B0604020202020204" pitchFamily="34" charset="0"/>
                <a:cs typeface="Arial" panose="020B0604020202020204" pitchFamily="34" charset="0"/>
              </a:rPr>
              <a:t>Consulté</a:t>
            </a:r>
            <a:r>
              <a:rPr lang="en-US" sz="900" dirty="0">
                <a:latin typeface="Arial" panose="020B0604020202020204" pitchFamily="34" charset="0"/>
                <a:cs typeface="Arial" panose="020B0604020202020204" pitchFamily="34" charset="0"/>
              </a:rPr>
              <a:t> sur </a:t>
            </a:r>
            <a:r>
              <a:rPr lang="en-US" sz="900" dirty="0">
                <a:latin typeface="Arial" panose="020B0604020202020204" pitchFamily="34" charset="0"/>
                <a:cs typeface="Arial" panose="020B0604020202020204" pitchFamily="34" charset="0"/>
                <a:hlinkClick r:id="rId6"/>
              </a:rPr>
              <a:t>vanguard.com</a:t>
            </a:r>
            <a:endParaRPr lang="en-US" sz="900" dirty="0">
              <a:latin typeface="Arial" panose="020B0604020202020204" pitchFamily="34" charset="0"/>
              <a:cs typeface="Arial" panose="020B0604020202020204" pitchFamily="34" charset="0"/>
            </a:endParaRPr>
          </a:p>
          <a:p>
            <a:pPr marL="0" indent="0">
              <a:buNone/>
            </a:pPr>
            <a:r>
              <a:rPr lang="en-US" sz="900" dirty="0">
                <a:latin typeface="Arial" panose="020B0604020202020204" pitchFamily="34" charset="0"/>
                <a:cs typeface="Arial" panose="020B0604020202020204" pitchFamily="34" charset="0"/>
              </a:rPr>
              <a:t>International Monetary Fund (IMF) (2025). </a:t>
            </a:r>
            <a:r>
              <a:rPr lang="en-US" sz="900" i="1" dirty="0">
                <a:latin typeface="Arial" panose="020B0604020202020204" pitchFamily="34" charset="0"/>
                <a:cs typeface="Arial" panose="020B0604020202020204" pitchFamily="34" charset="0"/>
              </a:rPr>
              <a:t>United States – 2025 Article IV Mission Report</a:t>
            </a:r>
            <a:r>
              <a:rPr lang="en-US" sz="900" dirty="0">
                <a:latin typeface="Arial" panose="020B0604020202020204" pitchFamily="34" charset="0"/>
                <a:cs typeface="Arial" panose="020B0604020202020204" pitchFamily="34" charset="0"/>
              </a:rPr>
              <a:t>. </a:t>
            </a:r>
            <a:r>
              <a:rPr lang="en-US" sz="900" dirty="0" err="1">
                <a:latin typeface="Arial" panose="020B0604020202020204" pitchFamily="34" charset="0"/>
                <a:cs typeface="Arial" panose="020B0604020202020204" pitchFamily="34" charset="0"/>
              </a:rPr>
              <a:t>Consulté</a:t>
            </a:r>
            <a:r>
              <a:rPr lang="en-US" sz="900" dirty="0">
                <a:latin typeface="Arial" panose="020B0604020202020204" pitchFamily="34" charset="0"/>
                <a:cs typeface="Arial" panose="020B0604020202020204" pitchFamily="34" charset="0"/>
              </a:rPr>
              <a:t> sur </a:t>
            </a:r>
            <a:r>
              <a:rPr lang="en-US" sz="900" dirty="0">
                <a:latin typeface="Arial" panose="020B0604020202020204" pitchFamily="34" charset="0"/>
                <a:cs typeface="Arial" panose="020B0604020202020204" pitchFamily="34" charset="0"/>
                <a:hlinkClick r:id="rId7"/>
              </a:rPr>
              <a:t>imf.org</a:t>
            </a:r>
            <a:endParaRPr lang="en-US" sz="900" dirty="0">
              <a:latin typeface="Arial" panose="020B0604020202020204" pitchFamily="34" charset="0"/>
              <a:cs typeface="Arial" panose="020B0604020202020204" pitchFamily="34" charset="0"/>
            </a:endParaRPr>
          </a:p>
          <a:p>
            <a:pPr marL="0" indent="0">
              <a:buNone/>
            </a:pPr>
            <a:r>
              <a:rPr lang="en-US" sz="900" dirty="0">
                <a:latin typeface="Arial" panose="020B0604020202020204" pitchFamily="34" charset="0"/>
                <a:cs typeface="Arial" panose="020B0604020202020204" pitchFamily="34" charset="0"/>
              </a:rPr>
              <a:t>Federal Reserve Board (2026). </a:t>
            </a:r>
            <a:r>
              <a:rPr lang="en-US" sz="900" i="1" dirty="0">
                <a:latin typeface="Arial" panose="020B0604020202020204" pitchFamily="34" charset="0"/>
                <a:cs typeface="Arial" panose="020B0604020202020204" pitchFamily="34" charset="0"/>
              </a:rPr>
              <a:t>Monetary Policy Statements and Implementation</a:t>
            </a:r>
            <a:r>
              <a:rPr lang="en-US" sz="900" dirty="0">
                <a:latin typeface="Arial" panose="020B0604020202020204" pitchFamily="34" charset="0"/>
                <a:cs typeface="Arial" panose="020B0604020202020204" pitchFamily="34" charset="0"/>
              </a:rPr>
              <a:t>. </a:t>
            </a:r>
            <a:r>
              <a:rPr lang="en-US" sz="900" dirty="0" err="1">
                <a:latin typeface="Arial" panose="020B0604020202020204" pitchFamily="34" charset="0"/>
                <a:cs typeface="Arial" panose="020B0604020202020204" pitchFamily="34" charset="0"/>
              </a:rPr>
              <a:t>Consulté</a:t>
            </a:r>
            <a:r>
              <a:rPr lang="en-US" sz="900" dirty="0">
                <a:latin typeface="Arial" panose="020B0604020202020204" pitchFamily="34" charset="0"/>
                <a:cs typeface="Arial" panose="020B0604020202020204" pitchFamily="34" charset="0"/>
              </a:rPr>
              <a:t> sur </a:t>
            </a:r>
            <a:r>
              <a:rPr lang="en-US" sz="900" dirty="0">
                <a:latin typeface="Arial" panose="020B0604020202020204" pitchFamily="34" charset="0"/>
                <a:cs typeface="Arial" panose="020B0604020202020204" pitchFamily="34" charset="0"/>
                <a:hlinkClick r:id="rId8"/>
              </a:rPr>
              <a:t>federalreserve.gov</a:t>
            </a:r>
            <a:endParaRPr lang="en-US" sz="900" dirty="0">
              <a:latin typeface="Arial" panose="020B0604020202020204" pitchFamily="34" charset="0"/>
              <a:cs typeface="Arial" panose="020B0604020202020204" pitchFamily="34" charset="0"/>
            </a:endParaRPr>
          </a:p>
          <a:p>
            <a:pPr marL="0" indent="0">
              <a:buNone/>
            </a:pPr>
            <a:r>
              <a:rPr lang="en-US" sz="1200" dirty="0" err="1">
                <a:latin typeface="Arial" panose="020B0604020202020204" pitchFamily="34" charset="0"/>
                <a:cs typeface="Arial" panose="020B0604020202020204" pitchFamily="34" charset="0"/>
              </a:rPr>
              <a:t>Médias</a:t>
            </a:r>
            <a:r>
              <a:rPr lang="en-US" sz="1200" dirty="0">
                <a:latin typeface="Arial" panose="020B0604020202020204" pitchFamily="34" charset="0"/>
                <a:cs typeface="Arial" panose="020B0604020202020204" pitchFamily="34" charset="0"/>
              </a:rPr>
              <a:t> et Analyses </a:t>
            </a:r>
            <a:r>
              <a:rPr lang="en-US" sz="1200" dirty="0" err="1">
                <a:latin typeface="Arial" panose="020B0604020202020204" pitchFamily="34" charset="0"/>
                <a:cs typeface="Arial" panose="020B0604020202020204" pitchFamily="34" charset="0"/>
              </a:rPr>
              <a:t>Thématiques</a:t>
            </a:r>
            <a:endParaRPr lang="en-US" sz="1200" dirty="0">
              <a:latin typeface="Arial" panose="020B0604020202020204" pitchFamily="34" charset="0"/>
              <a:cs typeface="Arial" panose="020B0604020202020204" pitchFamily="34" charset="0"/>
            </a:endParaRPr>
          </a:p>
          <a:p>
            <a:pPr marL="0" indent="0">
              <a:buNone/>
            </a:pPr>
            <a:r>
              <a:rPr lang="en-US" sz="900" dirty="0">
                <a:latin typeface="Arial" panose="020B0604020202020204" pitchFamily="34" charset="0"/>
                <a:cs typeface="Arial" panose="020B0604020202020204" pitchFamily="34" charset="0"/>
              </a:rPr>
              <a:t>Bloomberg Graphics (2025). </a:t>
            </a:r>
            <a:r>
              <a:rPr lang="en-US" sz="900" i="1" dirty="0">
                <a:latin typeface="Arial" panose="020B0604020202020204" pitchFamily="34" charset="0"/>
                <a:cs typeface="Arial" panose="020B0604020202020204" pitchFamily="34" charset="0"/>
              </a:rPr>
              <a:t>AI Circular Deals: How the money flows in a self-reinforcing loop</a:t>
            </a:r>
            <a:r>
              <a:rPr lang="en-US" sz="900" dirty="0">
                <a:latin typeface="Arial" panose="020B0604020202020204" pitchFamily="34" charset="0"/>
                <a:cs typeface="Arial" panose="020B0604020202020204" pitchFamily="34" charset="0"/>
              </a:rPr>
              <a:t>. </a:t>
            </a:r>
            <a:r>
              <a:rPr lang="en-US" sz="900" dirty="0" err="1">
                <a:latin typeface="Arial" panose="020B0604020202020204" pitchFamily="34" charset="0"/>
                <a:cs typeface="Arial" panose="020B0604020202020204" pitchFamily="34" charset="0"/>
              </a:rPr>
              <a:t>Consulté</a:t>
            </a:r>
            <a:r>
              <a:rPr lang="en-US" sz="900" dirty="0">
                <a:latin typeface="Arial" panose="020B0604020202020204" pitchFamily="34" charset="0"/>
                <a:cs typeface="Arial" panose="020B0604020202020204" pitchFamily="34" charset="0"/>
              </a:rPr>
              <a:t> sur </a:t>
            </a:r>
            <a:r>
              <a:rPr lang="en-US" sz="900" dirty="0">
                <a:latin typeface="Arial" panose="020B0604020202020204" pitchFamily="34" charset="0"/>
                <a:cs typeface="Arial" panose="020B0604020202020204" pitchFamily="34" charset="0"/>
                <a:hlinkClick r:id="rId9"/>
              </a:rPr>
              <a:t>bloomberg.com/graphics</a:t>
            </a:r>
            <a:endParaRPr lang="en-US" sz="900" dirty="0">
              <a:latin typeface="Arial" panose="020B0604020202020204" pitchFamily="34" charset="0"/>
              <a:cs typeface="Arial" panose="020B0604020202020204" pitchFamily="34" charset="0"/>
            </a:endParaRPr>
          </a:p>
          <a:p>
            <a:pPr marL="0" indent="0">
              <a:buNone/>
            </a:pPr>
            <a:r>
              <a:rPr lang="en-US" sz="900" dirty="0">
                <a:latin typeface="Arial" panose="020B0604020202020204" pitchFamily="34" charset="0"/>
                <a:cs typeface="Arial" panose="020B0604020202020204" pitchFamily="34" charset="0"/>
              </a:rPr>
              <a:t>CA Markets (2026). </a:t>
            </a:r>
            <a:r>
              <a:rPr lang="en-US" sz="900" i="1" dirty="0">
                <a:latin typeface="Arial" panose="020B0604020202020204" pitchFamily="34" charset="0"/>
                <a:cs typeface="Arial" panose="020B0604020202020204" pitchFamily="34" charset="0"/>
              </a:rPr>
              <a:t>Understanding the Dow Jones Index (DJIA): Mechanisms and History</a:t>
            </a:r>
            <a:r>
              <a:rPr lang="en-US" sz="900" dirty="0">
                <a:latin typeface="Arial" panose="020B0604020202020204" pitchFamily="34" charset="0"/>
                <a:cs typeface="Arial" panose="020B0604020202020204" pitchFamily="34" charset="0"/>
              </a:rPr>
              <a:t>. </a:t>
            </a:r>
            <a:r>
              <a:rPr lang="en-US" sz="900" dirty="0" err="1">
                <a:latin typeface="Arial" panose="020B0604020202020204" pitchFamily="34" charset="0"/>
                <a:cs typeface="Arial" panose="020B0604020202020204" pitchFamily="34" charset="0"/>
              </a:rPr>
              <a:t>Consulté</a:t>
            </a:r>
            <a:r>
              <a:rPr lang="en-US" sz="900" dirty="0">
                <a:latin typeface="Arial" panose="020B0604020202020204" pitchFamily="34" charset="0"/>
                <a:cs typeface="Arial" panose="020B0604020202020204" pitchFamily="34" charset="0"/>
              </a:rPr>
              <a:t> sur </a:t>
            </a:r>
            <a:r>
              <a:rPr lang="en-US" sz="900" dirty="0">
                <a:latin typeface="Arial" panose="020B0604020202020204" pitchFamily="34" charset="0"/>
                <a:cs typeface="Arial" panose="020B0604020202020204" pitchFamily="34" charset="0"/>
                <a:hlinkClick r:id="rId10"/>
              </a:rPr>
              <a:t>camarkets.com</a:t>
            </a:r>
            <a:endParaRPr lang="en-US" sz="900" dirty="0">
              <a:latin typeface="Arial" panose="020B0604020202020204" pitchFamily="34" charset="0"/>
              <a:cs typeface="Arial" panose="020B0604020202020204" pitchFamily="34" charset="0"/>
            </a:endParaRPr>
          </a:p>
          <a:p>
            <a:pPr marL="0" indent="0">
              <a:buNone/>
            </a:pPr>
            <a:r>
              <a:rPr lang="en-US" sz="900" dirty="0">
                <a:latin typeface="Arial" panose="020B0604020202020204" pitchFamily="34" charset="0"/>
                <a:cs typeface="Arial" panose="020B0604020202020204" pitchFamily="34" charset="0"/>
              </a:rPr>
              <a:t>Wikipedia Contributors (2026). </a:t>
            </a:r>
            <a:r>
              <a:rPr lang="en-US" sz="900" i="1" dirty="0">
                <a:latin typeface="Arial" panose="020B0604020202020204" pitchFamily="34" charset="0"/>
                <a:cs typeface="Arial" panose="020B0604020202020204" pitchFamily="34" charset="0"/>
              </a:rPr>
              <a:t>Dow Jones Industrial Average: Technical Structure</a:t>
            </a:r>
            <a:r>
              <a:rPr lang="en-US" sz="900" dirty="0">
                <a:latin typeface="Arial" panose="020B0604020202020204" pitchFamily="34" charset="0"/>
                <a:cs typeface="Arial" panose="020B0604020202020204" pitchFamily="34" charset="0"/>
              </a:rPr>
              <a:t>. </a:t>
            </a:r>
            <a:r>
              <a:rPr lang="en-US" sz="900" dirty="0" err="1">
                <a:latin typeface="Arial" panose="020B0604020202020204" pitchFamily="34" charset="0"/>
                <a:cs typeface="Arial" panose="020B0604020202020204" pitchFamily="34" charset="0"/>
              </a:rPr>
              <a:t>Consulté</a:t>
            </a:r>
            <a:r>
              <a:rPr lang="en-US" sz="900" dirty="0">
                <a:latin typeface="Arial" panose="020B0604020202020204" pitchFamily="34" charset="0"/>
                <a:cs typeface="Arial" panose="020B0604020202020204" pitchFamily="34" charset="0"/>
              </a:rPr>
              <a:t> sur </a:t>
            </a:r>
            <a:r>
              <a:rPr lang="en-US" sz="900" dirty="0">
                <a:latin typeface="Arial" panose="020B0604020202020204" pitchFamily="34" charset="0"/>
                <a:cs typeface="Arial" panose="020B0604020202020204" pitchFamily="34" charset="0"/>
                <a:hlinkClick r:id="rId11"/>
              </a:rPr>
              <a:t>en.wikipedia.org</a:t>
            </a:r>
            <a:endParaRPr lang="en-US" sz="900" dirty="0">
              <a:latin typeface="Arial" panose="020B0604020202020204" pitchFamily="34" charset="0"/>
              <a:cs typeface="Arial" panose="020B0604020202020204" pitchFamily="34" charset="0"/>
            </a:endParaRPr>
          </a:p>
          <a:p>
            <a:pPr marL="0" indent="0">
              <a:buNone/>
            </a:pPr>
            <a:r>
              <a:rPr lang="en-US" sz="1200" dirty="0" err="1">
                <a:latin typeface="Arial" panose="020B0604020202020204" pitchFamily="34" charset="0"/>
                <a:cs typeface="Arial" panose="020B0604020202020204" pitchFamily="34" charset="0"/>
              </a:rPr>
              <a:t>Actifs</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Visuels</a:t>
            </a:r>
            <a:r>
              <a:rPr lang="en-US" sz="1200" dirty="0">
                <a:latin typeface="Arial" panose="020B0604020202020204" pitchFamily="34" charset="0"/>
                <a:cs typeface="Arial" panose="020B0604020202020204" pitchFamily="34" charset="0"/>
              </a:rPr>
              <a:t> et </a:t>
            </a:r>
            <a:r>
              <a:rPr lang="en-US" sz="1200" dirty="0" err="1">
                <a:latin typeface="Arial" panose="020B0604020202020204" pitchFamily="34" charset="0"/>
                <a:cs typeface="Arial" panose="020B0604020202020204" pitchFamily="34" charset="0"/>
              </a:rPr>
              <a:t>Identités</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Graphiques</a:t>
            </a:r>
            <a:endParaRPr lang="en-US" sz="1200" dirty="0">
              <a:latin typeface="Arial" panose="020B0604020202020204" pitchFamily="34" charset="0"/>
              <a:cs typeface="Arial" panose="020B0604020202020204" pitchFamily="34" charset="0"/>
            </a:endParaRPr>
          </a:p>
          <a:p>
            <a:pPr marL="0" indent="0">
              <a:buNone/>
            </a:pPr>
            <a:r>
              <a:rPr lang="en-US" sz="900" dirty="0">
                <a:latin typeface="Arial" panose="020B0604020202020204" pitchFamily="34" charset="0"/>
                <a:cs typeface="Arial" panose="020B0604020202020204" pitchFamily="34" charset="0"/>
              </a:rPr>
              <a:t>Goldman Sachs Group, Inc. </a:t>
            </a:r>
            <a:r>
              <a:rPr lang="en-US" sz="900" i="1" dirty="0">
                <a:latin typeface="Arial" panose="020B0604020202020204" pitchFamily="34" charset="0"/>
                <a:cs typeface="Arial" panose="020B0604020202020204" pitchFamily="34" charset="0"/>
              </a:rPr>
              <a:t>Media Relations - Corporate Branding</a:t>
            </a:r>
            <a:r>
              <a:rPr lang="en-US" sz="900" dirty="0">
                <a:latin typeface="Arial" panose="020B0604020202020204" pitchFamily="34" charset="0"/>
                <a:cs typeface="Arial" panose="020B0604020202020204" pitchFamily="34" charset="0"/>
              </a:rPr>
              <a:t>. </a:t>
            </a:r>
            <a:r>
              <a:rPr lang="en-US" sz="900" dirty="0">
                <a:latin typeface="Arial" panose="020B0604020202020204" pitchFamily="34" charset="0"/>
                <a:cs typeface="Arial" panose="020B0604020202020204" pitchFamily="34" charset="0"/>
                <a:hlinkClick r:id="rId12"/>
              </a:rPr>
              <a:t>goldmansachs.com</a:t>
            </a:r>
            <a:endParaRPr lang="en-US" sz="900" dirty="0">
              <a:latin typeface="Arial" panose="020B0604020202020204" pitchFamily="34" charset="0"/>
              <a:cs typeface="Arial" panose="020B0604020202020204" pitchFamily="34" charset="0"/>
            </a:endParaRPr>
          </a:p>
          <a:p>
            <a:pPr marL="0" indent="0">
              <a:buNone/>
            </a:pPr>
            <a:r>
              <a:rPr lang="en-US" sz="900" dirty="0">
                <a:latin typeface="Arial" panose="020B0604020202020204" pitchFamily="34" charset="0"/>
                <a:cs typeface="Arial" panose="020B0604020202020204" pitchFamily="34" charset="0"/>
              </a:rPr>
              <a:t>Microsoft Corp. </a:t>
            </a:r>
            <a:r>
              <a:rPr lang="en-US" sz="900" i="1" dirty="0">
                <a:latin typeface="Arial" panose="020B0604020202020204" pitchFamily="34" charset="0"/>
                <a:cs typeface="Arial" panose="020B0604020202020204" pitchFamily="34" charset="0"/>
              </a:rPr>
              <a:t>Brand Assets and Trademarks</a:t>
            </a:r>
            <a:r>
              <a:rPr lang="en-US" sz="900" dirty="0">
                <a:latin typeface="Arial" panose="020B0604020202020204" pitchFamily="34" charset="0"/>
                <a:cs typeface="Arial" panose="020B0604020202020204" pitchFamily="34" charset="0"/>
              </a:rPr>
              <a:t>. </a:t>
            </a:r>
            <a:r>
              <a:rPr lang="en-US" sz="900" dirty="0">
                <a:latin typeface="Arial" panose="020B0604020202020204" pitchFamily="34" charset="0"/>
                <a:cs typeface="Arial" panose="020B0604020202020204" pitchFamily="34" charset="0"/>
                <a:hlinkClick r:id="rId13"/>
              </a:rPr>
              <a:t>microsoft.com</a:t>
            </a:r>
            <a:endParaRPr lang="en-US" sz="900" dirty="0">
              <a:latin typeface="Arial" panose="020B0604020202020204" pitchFamily="34" charset="0"/>
              <a:cs typeface="Arial" panose="020B0604020202020204" pitchFamily="34" charset="0"/>
            </a:endParaRPr>
          </a:p>
          <a:p>
            <a:pPr marL="0" indent="0">
              <a:buNone/>
            </a:pPr>
            <a:r>
              <a:rPr lang="en-US" sz="900" dirty="0">
                <a:latin typeface="Arial" panose="020B0604020202020204" pitchFamily="34" charset="0"/>
                <a:cs typeface="Arial" panose="020B0604020202020204" pitchFamily="34" charset="0"/>
              </a:rPr>
              <a:t>UnitedHealth Group (UHC). </a:t>
            </a:r>
            <a:r>
              <a:rPr lang="en-US" sz="900" i="1" dirty="0">
                <a:latin typeface="Arial" panose="020B0604020202020204" pitchFamily="34" charset="0"/>
                <a:cs typeface="Arial" panose="020B0604020202020204" pitchFamily="34" charset="0"/>
              </a:rPr>
              <a:t>Investor Relations - Brand Identity</a:t>
            </a:r>
            <a:r>
              <a:rPr lang="en-US" sz="900" dirty="0">
                <a:latin typeface="Arial" panose="020B0604020202020204" pitchFamily="34" charset="0"/>
                <a:cs typeface="Arial" panose="020B0604020202020204" pitchFamily="34" charset="0"/>
              </a:rPr>
              <a:t>. </a:t>
            </a:r>
            <a:r>
              <a:rPr lang="en-US" sz="900" dirty="0">
                <a:latin typeface="Arial" panose="020B0604020202020204" pitchFamily="34" charset="0"/>
                <a:cs typeface="Arial" panose="020B0604020202020204" pitchFamily="34" charset="0"/>
                <a:hlinkClick r:id="rId14"/>
              </a:rPr>
              <a:t>uhc.com</a:t>
            </a:r>
            <a:endParaRPr lang="en-US" sz="900" dirty="0">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90A987A7-8C96-32B9-263A-CE5ED142A96D}"/>
              </a:ext>
            </a:extLst>
          </p:cNvPr>
          <p:cNvSpPr>
            <a:spLocks noGrp="1"/>
          </p:cNvSpPr>
          <p:nvPr>
            <p:ph type="sldNum" sz="quarter" idx="12"/>
          </p:nvPr>
        </p:nvSpPr>
        <p:spPr/>
        <p:txBody>
          <a:bodyPr/>
          <a:lstStyle/>
          <a:p>
            <a:fld id="{C2BC48A5-4F43-4573-99E8-824F842D28E4}" type="slidenum">
              <a:rPr lang="en-US" smtClean="0"/>
              <a:t>6</a:t>
            </a:fld>
            <a:endParaRPr lang="en-US"/>
          </a:p>
        </p:txBody>
      </p:sp>
    </p:spTree>
    <p:extLst>
      <p:ext uri="{BB962C8B-B14F-4D97-AF65-F5344CB8AC3E}">
        <p14:creationId xmlns:p14="http://schemas.microsoft.com/office/powerpoint/2010/main" val="367005603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465</TotalTime>
  <Words>1537</Words>
  <Application>Microsoft Office PowerPoint</Application>
  <PresentationFormat>Widescreen</PresentationFormat>
  <Paragraphs>76</Paragraphs>
  <Slides>6</Slides>
  <Notes>0</Notes>
  <HiddenSlides>0</HiddenSlides>
  <MMClips>0</MMClips>
  <ScaleCrop>false</ScaleCrop>
  <HeadingPairs>
    <vt:vector size="6" baseType="variant">
      <vt:variant>
        <vt:lpstr>Fonts Used</vt:lpstr>
      </vt:variant>
      <vt:variant>
        <vt:i4>1</vt:i4>
      </vt:variant>
      <vt:variant>
        <vt:lpstr>Theme</vt:lpstr>
      </vt:variant>
      <vt:variant>
        <vt:i4>1</vt:i4>
      </vt:variant>
      <vt:variant>
        <vt:lpstr>Slide Titles</vt:lpstr>
      </vt:variant>
      <vt:variant>
        <vt:i4>6</vt:i4>
      </vt:variant>
    </vt:vector>
  </HeadingPairs>
  <TitlesOfParts>
    <vt:vector size="8" baseType="lpstr">
      <vt:lpstr>Arial</vt:lpstr>
      <vt:lpstr>Office Theme</vt:lpstr>
      <vt:lpstr>Le Dow Jones depuis 2010 : d’un indice industriel à un baromètre technologique</vt:lpstr>
      <vt:lpstr>Partie 1 : Fondements et méthodologie du Dow Jones</vt:lpstr>
      <vt:lpstr>Partie 1 : Contexte historique (2010–2025)</vt:lpstr>
      <vt:lpstr>Partie 2 : Analyse microéconomique et sectorielle</vt:lpstr>
      <vt:lpstr>Mise en perspective et conclusion</vt:lpstr>
      <vt:lpstr>Bibliographie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Andrii Plotnikov</dc:creator>
  <cp:lastModifiedBy>Andrii Plotnikov</cp:lastModifiedBy>
  <cp:revision>7</cp:revision>
  <dcterms:created xsi:type="dcterms:W3CDTF">2026-01-29T11:26:16Z</dcterms:created>
  <dcterms:modified xsi:type="dcterms:W3CDTF">2026-02-05T15:09:42Z</dcterms:modified>
</cp:coreProperties>
</file>